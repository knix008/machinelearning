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66" r:id="rId2"/>
    <p:sldId id="369" r:id="rId3"/>
    <p:sldId id="347" r:id="rId4"/>
    <p:sldId id="348" r:id="rId5"/>
    <p:sldId id="349" r:id="rId6"/>
    <p:sldId id="350" r:id="rId7"/>
    <p:sldId id="351" r:id="rId8"/>
    <p:sldId id="367" r:id="rId9"/>
    <p:sldId id="352" r:id="rId10"/>
    <p:sldId id="353" r:id="rId11"/>
    <p:sldId id="354" r:id="rId12"/>
    <p:sldId id="368" r:id="rId13"/>
    <p:sldId id="370" r:id="rId14"/>
  </p:sldIdLst>
  <p:sldSz cx="12190413" cy="6859588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5993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1">
          <p15:clr>
            <a:srgbClr val="A4A3A4"/>
          </p15:clr>
        </p15:guide>
        <p15:guide id="2" pos="310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50BD"/>
    <a:srgbClr val="2E71EA"/>
    <a:srgbClr val="2A48A6"/>
    <a:srgbClr val="26A9F2"/>
    <a:srgbClr val="221B83"/>
    <a:srgbClr val="FFC000"/>
    <a:srgbClr val="355EE3"/>
    <a:srgbClr val="1F30B1"/>
    <a:srgbClr val="4DCAF1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4A944-8357-4847-AA6D-C7F5DF33E58F}" v="15" dt="2025-03-05T23:57:16.02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60"/>
  </p:normalViewPr>
  <p:slideViewPr>
    <p:cSldViewPr snapToGrid="0">
      <p:cViewPr varScale="1">
        <p:scale>
          <a:sx n="58" d="100"/>
          <a:sy n="58" d="100"/>
        </p:scale>
        <p:origin x="392" y="44"/>
      </p:cViewPr>
      <p:guideLst>
        <p:guide orient="horz" pos="5993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-1982" y="-72"/>
      </p:cViewPr>
      <p:guideLst>
        <p:guide orient="horz" pos="2121"/>
        <p:guide pos="310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138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8000" y="0"/>
            <a:ext cx="4276725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82AEA-E3AB-4087-9E20-35B46860BB2B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397625"/>
            <a:ext cx="4275138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8000" y="6397625"/>
            <a:ext cx="4276725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B0CF50-F52E-48BD-AD54-A598A07118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182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5046" cy="337437"/>
          </a:xfrm>
          <a:prstGeom prst="rect">
            <a:avLst/>
          </a:prstGeom>
        </p:spPr>
        <p:txBody>
          <a:bodyPr vert="horz" lIns="165900" tIns="82950" rIns="165900" bIns="82950" rtlCol="0"/>
          <a:lstStyle>
            <a:lvl1pPr algn="l">
              <a:defRPr sz="2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594" y="0"/>
            <a:ext cx="4275046" cy="337437"/>
          </a:xfrm>
          <a:prstGeom prst="rect">
            <a:avLst/>
          </a:prstGeom>
        </p:spPr>
        <p:txBody>
          <a:bodyPr vert="horz" lIns="165900" tIns="82950" rIns="165900" bIns="82950" rtlCol="0"/>
          <a:lstStyle>
            <a:lvl1pPr algn="r">
              <a:defRPr sz="2200"/>
            </a:lvl1pPr>
          </a:lstStyle>
          <a:p>
            <a:fld id="{D49EC9C7-B54A-4E0A-A7AE-FA9E1D2CCFA0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0813" y="506413"/>
            <a:ext cx="4484687" cy="2524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5900" tIns="82950" rIns="165900" bIns="8295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168" y="3199164"/>
            <a:ext cx="7891980" cy="3030444"/>
          </a:xfrm>
          <a:prstGeom prst="rect">
            <a:avLst/>
          </a:prstGeom>
        </p:spPr>
        <p:txBody>
          <a:bodyPr vert="horz" lIns="165900" tIns="82950" rIns="165900" bIns="8295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398326"/>
            <a:ext cx="4275046" cy="337437"/>
          </a:xfrm>
          <a:prstGeom prst="rect">
            <a:avLst/>
          </a:prstGeom>
        </p:spPr>
        <p:txBody>
          <a:bodyPr vert="horz" lIns="165900" tIns="82950" rIns="165900" bIns="82950" rtlCol="0" anchor="b"/>
          <a:lstStyle>
            <a:lvl1pPr algn="l">
              <a:defRPr sz="2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594" y="6398326"/>
            <a:ext cx="4275046" cy="337437"/>
          </a:xfrm>
          <a:prstGeom prst="rect">
            <a:avLst/>
          </a:prstGeom>
        </p:spPr>
        <p:txBody>
          <a:bodyPr vert="horz" lIns="165900" tIns="82950" rIns="165900" bIns="82950" rtlCol="0" anchor="b"/>
          <a:lstStyle>
            <a:lvl1pPr algn="r">
              <a:defRPr sz="2200"/>
            </a:lvl1pPr>
          </a:lstStyle>
          <a:p>
            <a:fld id="{B0781F97-5BDF-4CD9-8D31-8F07B37044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050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935188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967594" algn="l" defTabSz="1935188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935188" algn="l" defTabSz="1935188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2902782" algn="l" defTabSz="1935188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3870375" algn="l" defTabSz="1935188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4837970" algn="l" defTabSz="1935188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5805563" algn="l" defTabSz="1935188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6773157" algn="l" defTabSz="1935188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7740750" algn="l" defTabSz="1935188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폰트, 그래픽, 로고, 상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AF72064-36CD-21DB-E1EE-2273966055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9611" y="163269"/>
            <a:ext cx="1754660" cy="33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599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448785" y="214589"/>
            <a:ext cx="1507220" cy="148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2" y="0"/>
            <a:ext cx="12190416" cy="90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448785" y="214589"/>
            <a:ext cx="1507220" cy="148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 userDrawn="1"/>
        </p:nvSpPr>
        <p:spPr>
          <a:xfrm>
            <a:off x="25397" y="6526335"/>
            <a:ext cx="4672992" cy="29238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/>
          <a:p>
            <a:pPr algn="l"/>
            <a:r>
              <a:rPr lang="en-US" altLang="ko-KR" sz="1100" b="0" i="0">
                <a:solidFill>
                  <a:schemeClr val="bg1">
                    <a:lumMod val="75000"/>
                  </a:schemeClr>
                </a:solidFill>
                <a:effectLst/>
                <a:latin typeface="맑은 고딕" panose="020B0503020000020004" pitchFamily="50" charset="-127"/>
                <a:ea typeface="+mj-ea"/>
                <a:cs typeface="Arial" panose="020B0604020202020204" pitchFamily="34" charset="0"/>
              </a:rPr>
              <a:t>Copyright ⓒ 2010-2024 CAMMSYS Corp. All Rights Reserved.</a:t>
            </a:r>
            <a:endParaRPr lang="ko-KR" altLang="en-US" sz="1100" b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394650" y="6470032"/>
            <a:ext cx="711107" cy="366267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ABB789-FA18-47F0-8F5E-895E398FBCA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2" y="0"/>
            <a:ext cx="12190416" cy="90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28683"/>
            <a:ext cx="12190416" cy="90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394650" y="6470032"/>
            <a:ext cx="711107" cy="366267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ABB789-FA18-47F0-8F5E-895E398FBCA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5" descr="폰트, 그래픽, 로고, 상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03F88FA-0529-5AC0-E4A4-1AFF5A8193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9611" y="163269"/>
            <a:ext cx="1754660" cy="33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28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66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6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8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</p:spTree>
    <p:extLst>
      <p:ext uri="{BB962C8B-B14F-4D97-AF65-F5344CB8AC3E}">
        <p14:creationId xmlns:p14="http://schemas.microsoft.com/office/powerpoint/2010/main" val="289539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6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76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790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44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569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165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022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188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29606" y="29897"/>
            <a:ext cx="5375700" cy="476360"/>
          </a:xfrm>
          <a:prstGeom prst="rect">
            <a:avLst/>
          </a:prstGeom>
        </p:spPr>
        <p:txBody>
          <a:bodyPr lIns="77751" tIns="38876" rIns="77751" bIns="38876" anchor="ctr"/>
          <a:lstStyle>
            <a:lvl1pPr algn="l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프레젠테이션 소제목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9725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>
            <a:off x="679362" y="261166"/>
            <a:ext cx="0" cy="21720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12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폰트, 그래픽, 로고, 상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6B26543-558F-BA76-76DB-42751EF1D61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9611" y="163269"/>
            <a:ext cx="1754660" cy="33253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951726">
        <a:defRPr>
          <a:latin typeface="+mn-lt"/>
          <a:ea typeface="+mn-ea"/>
          <a:cs typeface="+mn-cs"/>
        </a:defRPr>
      </a:lvl2pPr>
      <a:lvl3pPr marL="1903451">
        <a:defRPr>
          <a:latin typeface="+mn-lt"/>
          <a:ea typeface="+mn-ea"/>
          <a:cs typeface="+mn-cs"/>
        </a:defRPr>
      </a:lvl3pPr>
      <a:lvl4pPr marL="2855177">
        <a:defRPr>
          <a:latin typeface="+mn-lt"/>
          <a:ea typeface="+mn-ea"/>
          <a:cs typeface="+mn-cs"/>
        </a:defRPr>
      </a:lvl4pPr>
      <a:lvl5pPr marL="3806902">
        <a:defRPr>
          <a:latin typeface="+mn-lt"/>
          <a:ea typeface="+mn-ea"/>
          <a:cs typeface="+mn-cs"/>
        </a:defRPr>
      </a:lvl5pPr>
      <a:lvl6pPr marL="4758628">
        <a:defRPr>
          <a:latin typeface="+mn-lt"/>
          <a:ea typeface="+mn-ea"/>
          <a:cs typeface="+mn-cs"/>
        </a:defRPr>
      </a:lvl6pPr>
      <a:lvl7pPr marL="5710353">
        <a:defRPr>
          <a:latin typeface="+mn-lt"/>
          <a:ea typeface="+mn-ea"/>
          <a:cs typeface="+mn-cs"/>
        </a:defRPr>
      </a:lvl7pPr>
      <a:lvl8pPr marL="6662076">
        <a:defRPr>
          <a:latin typeface="+mn-lt"/>
          <a:ea typeface="+mn-ea"/>
          <a:cs typeface="+mn-cs"/>
        </a:defRPr>
      </a:lvl8pPr>
      <a:lvl9pPr marL="761380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951726">
        <a:defRPr>
          <a:latin typeface="+mn-lt"/>
          <a:ea typeface="+mn-ea"/>
          <a:cs typeface="+mn-cs"/>
        </a:defRPr>
      </a:lvl2pPr>
      <a:lvl3pPr marL="1903451">
        <a:defRPr>
          <a:latin typeface="+mn-lt"/>
          <a:ea typeface="+mn-ea"/>
          <a:cs typeface="+mn-cs"/>
        </a:defRPr>
      </a:lvl3pPr>
      <a:lvl4pPr marL="2855177">
        <a:defRPr>
          <a:latin typeface="+mn-lt"/>
          <a:ea typeface="+mn-ea"/>
          <a:cs typeface="+mn-cs"/>
        </a:defRPr>
      </a:lvl4pPr>
      <a:lvl5pPr marL="3806902">
        <a:defRPr>
          <a:latin typeface="+mn-lt"/>
          <a:ea typeface="+mn-ea"/>
          <a:cs typeface="+mn-cs"/>
        </a:defRPr>
      </a:lvl5pPr>
      <a:lvl6pPr marL="4758628">
        <a:defRPr>
          <a:latin typeface="+mn-lt"/>
          <a:ea typeface="+mn-ea"/>
          <a:cs typeface="+mn-cs"/>
        </a:defRPr>
      </a:lvl6pPr>
      <a:lvl7pPr marL="5710353">
        <a:defRPr>
          <a:latin typeface="+mn-lt"/>
          <a:ea typeface="+mn-ea"/>
          <a:cs typeface="+mn-cs"/>
        </a:defRPr>
      </a:lvl7pPr>
      <a:lvl8pPr marL="6662076">
        <a:defRPr>
          <a:latin typeface="+mn-lt"/>
          <a:ea typeface="+mn-ea"/>
          <a:cs typeface="+mn-cs"/>
        </a:defRPr>
      </a:lvl8pPr>
      <a:lvl9pPr marL="761380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m.cafe.daum.net/all-for-led/HmQe/9?q=diode&amp;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REF\background,image\CK_cb0460056669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50" b="30205"/>
          <a:stretch/>
        </p:blipFill>
        <p:spPr bwMode="auto">
          <a:xfrm>
            <a:off x="-1" y="1240"/>
            <a:ext cx="12190413" cy="289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A26F470-62DA-4782-BCD4-A08EB00DC56D}"/>
              </a:ext>
            </a:extLst>
          </p:cNvPr>
          <p:cNvSpPr txBox="1"/>
          <p:nvPr/>
        </p:nvSpPr>
        <p:spPr>
          <a:xfrm>
            <a:off x="4345533" y="2893077"/>
            <a:ext cx="3050515" cy="11489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3733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AI</a:t>
            </a:r>
            <a:r>
              <a:rPr lang="ko-KR" altLang="en-US" sz="3733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얼굴리더기</a:t>
            </a:r>
            <a:endParaRPr lang="en-US" altLang="ko-KR" sz="3733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  <a:p>
            <a:pPr algn="l"/>
            <a:r>
              <a:rPr lang="ko-KR" altLang="en-US" sz="3733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개발 제안서</a:t>
            </a:r>
            <a:endParaRPr lang="en-US" altLang="ko-KR" sz="3733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603901" y="3226621"/>
            <a:ext cx="0" cy="406347"/>
          </a:xfrm>
          <a:prstGeom prst="line">
            <a:avLst/>
          </a:prstGeom>
          <a:ln w="12700">
            <a:solidFill>
              <a:srgbClr val="2E71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74DC257-0671-EDB2-291B-166EDF9F1AF1}"/>
              </a:ext>
            </a:extLst>
          </p:cNvPr>
          <p:cNvSpPr txBox="1"/>
          <p:nvPr/>
        </p:nvSpPr>
        <p:spPr>
          <a:xfrm>
            <a:off x="10725666" y="585710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1350BD"/>
                </a:solidFill>
              </a:rPr>
              <a:t>유비코드</a:t>
            </a:r>
            <a:endParaRPr lang="en-US" altLang="ko-KR" b="1" dirty="0">
              <a:solidFill>
                <a:srgbClr val="1350BD"/>
              </a:solidFill>
            </a:endParaRPr>
          </a:p>
          <a:p>
            <a:pPr algn="ctr"/>
            <a:r>
              <a:rPr lang="en-US" altLang="ko-KR" b="1" dirty="0">
                <a:solidFill>
                  <a:srgbClr val="1350BD"/>
                </a:solidFill>
              </a:rPr>
              <a:t>2025.3</a:t>
            </a:r>
            <a:endParaRPr lang="ko-KR" altLang="en-US" b="1" dirty="0">
              <a:solidFill>
                <a:srgbClr val="1350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13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E959D-D813-FFCD-017B-29AE3716A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REF\background,image\CK_cb0460056669.jpg">
            <a:extLst>
              <a:ext uri="{FF2B5EF4-FFF2-40B4-BE49-F238E27FC236}">
                <a16:creationId xmlns:a16="http://schemas.microsoft.com/office/drawing/2014/main" id="{2D6ECDAD-80B1-341A-BF82-589803A186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50" b="30205"/>
          <a:stretch/>
        </p:blipFill>
        <p:spPr bwMode="auto">
          <a:xfrm>
            <a:off x="-1" y="1240"/>
            <a:ext cx="12190413" cy="289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242E85A-3F77-0C96-B309-8F57232F3B4A}"/>
              </a:ext>
            </a:extLst>
          </p:cNvPr>
          <p:cNvSpPr txBox="1"/>
          <p:nvPr/>
        </p:nvSpPr>
        <p:spPr>
          <a:xfrm>
            <a:off x="5766560" y="3165901"/>
            <a:ext cx="1917192" cy="5744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3733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과제개요</a:t>
            </a:r>
            <a:endParaRPr lang="en-US" altLang="ko-KR" sz="3733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42FE6-0205-C6A5-6F93-1EDEF3FAF7D5}"/>
              </a:ext>
            </a:extLst>
          </p:cNvPr>
          <p:cNvSpPr txBox="1"/>
          <p:nvPr/>
        </p:nvSpPr>
        <p:spPr>
          <a:xfrm>
            <a:off x="4830468" y="3104116"/>
            <a:ext cx="634790" cy="6564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4266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itchFamily="50" charset="-127"/>
              </a:rPr>
              <a:t>01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1BEE39B-B9BD-23B8-4BD1-A151002442FA}"/>
              </a:ext>
            </a:extLst>
          </p:cNvPr>
          <p:cNvCxnSpPr/>
          <p:nvPr/>
        </p:nvCxnSpPr>
        <p:spPr>
          <a:xfrm>
            <a:off x="5603901" y="3226621"/>
            <a:ext cx="0" cy="406347"/>
          </a:xfrm>
          <a:prstGeom prst="line">
            <a:avLst/>
          </a:prstGeom>
          <a:ln w="12700">
            <a:solidFill>
              <a:srgbClr val="2E71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99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/>
          <p:cNvSpPr/>
          <p:nvPr/>
        </p:nvSpPr>
        <p:spPr>
          <a:xfrm>
            <a:off x="645628" y="3878558"/>
            <a:ext cx="10855492" cy="266956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64" name="직사각형 63"/>
          <p:cNvSpPr/>
          <p:nvPr/>
        </p:nvSpPr>
        <p:spPr>
          <a:xfrm>
            <a:off x="659254" y="1147739"/>
            <a:ext cx="10855492" cy="2621503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20114-386C-7ABD-05B9-820A55BDFCD2}"/>
              </a:ext>
            </a:extLst>
          </p:cNvPr>
          <p:cNvSpPr txBox="1"/>
          <p:nvPr/>
        </p:nvSpPr>
        <p:spPr>
          <a:xfrm>
            <a:off x="1055081" y="4360389"/>
            <a:ext cx="5018293" cy="1052561"/>
          </a:xfrm>
          <a:prstGeom prst="rect">
            <a:avLst/>
          </a:prstGeom>
          <a:noFill/>
        </p:spPr>
        <p:txBody>
          <a:bodyPr wrap="square" lIns="77751" tIns="38876" rIns="77751" bIns="38876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2. Project</a:t>
            </a:r>
            <a:r>
              <a:rPr lang="ko-KR" altLang="en-US" sz="1600" b="1" dirty="0">
                <a:latin typeface="+mn-ea"/>
              </a:rPr>
              <a:t>의 </a:t>
            </a:r>
            <a:r>
              <a:rPr lang="en-US" altLang="ko-KR" sz="1600" b="1" dirty="0">
                <a:latin typeface="+mn-ea"/>
              </a:rPr>
              <a:t>SCM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- S</a:t>
            </a:r>
            <a:r>
              <a:rPr lang="ko-KR" altLang="en-US" sz="1400" dirty="0">
                <a:latin typeface="+mn-ea"/>
              </a:rPr>
              <a:t>사의 제조 경쟁력 활용</a:t>
            </a:r>
            <a:endParaRPr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㈜유비코드의 개발 경쟁력을 바탕으로 제품의 개발 및 검증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26F470-62DA-4782-BCD4-A08EB00DC56D}"/>
              </a:ext>
            </a:extLst>
          </p:cNvPr>
          <p:cNvSpPr txBox="1"/>
          <p:nvPr/>
        </p:nvSpPr>
        <p:spPr>
          <a:xfrm>
            <a:off x="751426" y="249113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과제개요</a:t>
            </a:r>
            <a:endParaRPr lang="en-US" altLang="ko-KR" sz="14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745C76-4868-44E6-AC2A-86FE8E798022}"/>
              </a:ext>
            </a:extLst>
          </p:cNvPr>
          <p:cNvSpPr txBox="1"/>
          <p:nvPr/>
        </p:nvSpPr>
        <p:spPr>
          <a:xfrm>
            <a:off x="751425" y="465285"/>
            <a:ext cx="6194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317"/>
              </a:spcBef>
            </a:pPr>
            <a:r>
              <a:rPr lang="ko-KR" altLang="en-US" sz="1200" spc="-79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 개요</a:t>
            </a:r>
            <a:endParaRPr lang="nn-NO" altLang="ko-KR" sz="1200" spc="-79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526703-CFAB-4E13-BD9F-1F9077DF0C99}"/>
              </a:ext>
            </a:extLst>
          </p:cNvPr>
          <p:cNvSpPr txBox="1"/>
          <p:nvPr/>
        </p:nvSpPr>
        <p:spPr>
          <a:xfrm>
            <a:off x="405980" y="230860"/>
            <a:ext cx="25327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09E00-5510-C916-431D-A3434468AAC3}"/>
              </a:ext>
            </a:extLst>
          </p:cNvPr>
          <p:cNvSpPr txBox="1"/>
          <p:nvPr/>
        </p:nvSpPr>
        <p:spPr>
          <a:xfrm>
            <a:off x="1416850" y="1204783"/>
            <a:ext cx="4922166" cy="400202"/>
          </a:xfrm>
          <a:prstGeom prst="rect">
            <a:avLst/>
          </a:prstGeom>
          <a:noFill/>
        </p:spPr>
        <p:txBody>
          <a:bodyPr wrap="square" lIns="77751" tIns="38876" rIns="77751" bIns="38876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1. Project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의 개요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: AI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얼굴 리더기 개발 협업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공급</a:t>
            </a:r>
            <a:endParaRPr lang="en-US" altLang="ko-KR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418275" y="1579239"/>
            <a:ext cx="4536859" cy="1989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Frame</a:t>
            </a:r>
            <a:r>
              <a:rPr lang="ko-KR" altLang="en-US" sz="1400" dirty="0">
                <a:latin typeface="+mn-ea"/>
              </a:rPr>
              <a:t>에 설치 가능한 슬림형의 좁은 외형 얼굴리더기 개발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납품</a:t>
            </a:r>
            <a:endParaRPr lang="en-US" altLang="ko-KR" sz="1400" dirty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출입문 프레임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벽부</a:t>
            </a:r>
            <a:r>
              <a:rPr lang="ko-KR" altLang="en-US" sz="1400" dirty="0">
                <a:latin typeface="+mn-ea"/>
              </a:rPr>
              <a:t> 등에 자유롭게 설치 가능한 기기</a:t>
            </a:r>
            <a:endParaRPr lang="en-US" altLang="ko-KR" sz="1400" dirty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카메라</a:t>
            </a:r>
            <a:r>
              <a:rPr lang="en-US" altLang="ko-KR" sz="1400" dirty="0">
                <a:latin typeface="+mn-ea"/>
              </a:rPr>
              <a:t>(IR/RGB)</a:t>
            </a:r>
            <a:r>
              <a:rPr lang="ko-KR" altLang="en-US" sz="1400" dirty="0">
                <a:latin typeface="+mn-ea"/>
              </a:rPr>
              <a:t>와 </a:t>
            </a:r>
            <a:r>
              <a:rPr lang="en-US" altLang="ko-KR" sz="1400" dirty="0">
                <a:latin typeface="+mn-ea"/>
              </a:rPr>
              <a:t>LCD</a:t>
            </a:r>
            <a:r>
              <a:rPr lang="ko-KR" altLang="en-US" sz="1400" dirty="0">
                <a:latin typeface="+mn-ea"/>
              </a:rPr>
              <a:t>로 구성된 </a:t>
            </a:r>
            <a:r>
              <a:rPr lang="en-US" altLang="ko-KR" sz="1400" dirty="0">
                <a:latin typeface="+mn-ea"/>
              </a:rPr>
              <a:t>Bar Type</a:t>
            </a:r>
            <a:r>
              <a:rPr lang="ko-KR" altLang="en-US" sz="1400" dirty="0">
                <a:latin typeface="+mn-ea"/>
              </a:rPr>
              <a:t>의 인증기기</a:t>
            </a:r>
            <a:endParaRPr lang="en-US" altLang="ko-KR" sz="1400" dirty="0">
              <a:latin typeface="+mn-ea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8179164" y="1739772"/>
            <a:ext cx="1962852" cy="1285280"/>
            <a:chOff x="8215551" y="1435253"/>
            <a:chExt cx="2167347" cy="141918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E714E26-5AF7-788C-BEFF-9F98B1022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94563" y="1435253"/>
              <a:ext cx="1088335" cy="1417246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360FFCE-63A7-38AD-ECF6-E8477E139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15551" y="1436514"/>
              <a:ext cx="754271" cy="1417923"/>
            </a:xfrm>
            <a:prstGeom prst="rect">
              <a:avLst/>
            </a:prstGeom>
          </p:spPr>
        </p:pic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FDB9F1D-DAD0-02CC-046A-F505E75A6B25}"/>
              </a:ext>
            </a:extLst>
          </p:cNvPr>
          <p:cNvCxnSpPr>
            <a:cxnSpLocks/>
          </p:cNvCxnSpPr>
          <p:nvPr/>
        </p:nvCxnSpPr>
        <p:spPr>
          <a:xfrm>
            <a:off x="6239339" y="2399774"/>
            <a:ext cx="1447800" cy="0"/>
          </a:xfrm>
          <a:prstGeom prst="straightConnector1">
            <a:avLst/>
          </a:prstGeom>
          <a:ln w="28575">
            <a:solidFill>
              <a:srgbClr val="355E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376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17C8C-0EA2-9476-F0AA-8D45BD17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4E6CBEB-8646-4FEE-0EA4-B8C0483DE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562787"/>
              </p:ext>
            </p:extLst>
          </p:nvPr>
        </p:nvGraphicFramePr>
        <p:xfrm>
          <a:off x="438172" y="1297549"/>
          <a:ext cx="11314071" cy="530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2160">
                  <a:extLst>
                    <a:ext uri="{9D8B030D-6E8A-4147-A177-3AD203B41FA5}">
                      <a16:colId xmlns:a16="http://schemas.microsoft.com/office/drawing/2014/main" val="3731571487"/>
                    </a:ext>
                  </a:extLst>
                </a:gridCol>
                <a:gridCol w="2076634">
                  <a:extLst>
                    <a:ext uri="{9D8B030D-6E8A-4147-A177-3AD203B41FA5}">
                      <a16:colId xmlns:a16="http://schemas.microsoft.com/office/drawing/2014/main" val="3717526677"/>
                    </a:ext>
                  </a:extLst>
                </a:gridCol>
                <a:gridCol w="6731156">
                  <a:extLst>
                    <a:ext uri="{9D8B030D-6E8A-4147-A177-3AD203B41FA5}">
                      <a16:colId xmlns:a16="http://schemas.microsoft.com/office/drawing/2014/main" val="3055938665"/>
                    </a:ext>
                  </a:extLst>
                </a:gridCol>
                <a:gridCol w="1074121">
                  <a:extLst>
                    <a:ext uri="{9D8B030D-6E8A-4147-A177-3AD203B41FA5}">
                      <a16:colId xmlns:a16="http://schemas.microsoft.com/office/drawing/2014/main" val="738044975"/>
                    </a:ext>
                  </a:extLst>
                </a:gridCol>
              </a:tblGrid>
              <a:tr h="2491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281" marR="34281" marT="25720" marB="2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  <a:endParaRPr lang="ko-KR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117384"/>
                  </a:ext>
                </a:extLst>
              </a:tr>
              <a:tr h="265895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외형 및</a:t>
                      </a:r>
                      <a:br>
                        <a:rPr lang="ko-KR" altLang="en-US" sz="1400" b="1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400" b="1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환경</a:t>
                      </a:r>
                      <a:endParaRPr lang="ko-KR" altLang="en-US" sz="14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크기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폭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(W): 59mm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높이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(H): 160mm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깊이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(D): 35mm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협의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941120"/>
                  </a:ext>
                </a:extLst>
              </a:tr>
              <a:tr h="227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Display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 Color/Touch LCD, 1.7"(Min)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661313"/>
                  </a:ext>
                </a:extLst>
              </a:tr>
              <a:tr h="2658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환경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옥외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조도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역광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극복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(Limitation 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제시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‣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조명을 통한 암부 동작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210840"/>
                  </a:ext>
                </a:extLst>
              </a:tr>
              <a:tr h="227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조작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전면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Touch Screen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852462"/>
                  </a:ext>
                </a:extLst>
              </a:tr>
              <a:tr h="227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수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만명 권장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 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천명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626779"/>
                  </a:ext>
                </a:extLst>
              </a:tr>
              <a:tr h="227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관리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사용자용 스마트폰 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App,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기기설정 메뉴 제공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협의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267945"/>
                  </a:ext>
                </a:extLst>
              </a:tr>
              <a:tr h="22719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</a:t>
                      </a:r>
                      <a:r>
                        <a:rPr lang="ko-KR" altLang="en-US" sz="1400" b="1" u="none" strike="noStrike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운영성</a:t>
                      </a:r>
                      <a:endParaRPr lang="ko-KR" altLang="en-US" sz="14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시공편의성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깊이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(D) 35mm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 이면서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시공편의성 반영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619921"/>
                  </a:ext>
                </a:extLst>
              </a:tr>
              <a:tr h="227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설치 </a:t>
                      </a:r>
                      <a:r>
                        <a:rPr lang="ko-KR" altLang="en-US" sz="14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직원용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IST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설정 메뉴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인텔리빅스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108686"/>
                  </a:ext>
                </a:extLst>
              </a:tr>
              <a:tr h="265895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endParaRPr lang="ko-KR" altLang="en-US" sz="14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인식 속도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 이내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0.6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 권장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인식 속도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1.3M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권장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096286"/>
                  </a:ext>
                </a:extLst>
              </a:tr>
              <a:tr h="2658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권장 </a:t>
                      </a:r>
                      <a:r>
                        <a:rPr 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 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사양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CPU + NPU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권장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* AP: A53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급 이상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NPU: 1 TOPS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199484"/>
                  </a:ext>
                </a:extLst>
              </a:tr>
              <a:tr h="2658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RockChip</a:t>
                      </a:r>
                      <a:r>
                        <a:rPr lang="ko-KR" alt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</a:t>
                      </a:r>
                      <a:r>
                        <a:rPr lang="en-US" altLang="ko-KR" sz="14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제공하는 </a:t>
                      </a:r>
                      <a:r>
                        <a:rPr lang="en-US" altLang="ko-KR" sz="14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SDK</a:t>
                      </a:r>
                      <a:r>
                        <a:rPr lang="ko-KR" alt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ko-KR" altLang="en-US" sz="140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커널버전</a:t>
                      </a:r>
                      <a:r>
                        <a:rPr lang="ko-KR" alt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Linux-5.10</a:t>
                      </a:r>
                      <a:endParaRPr lang="en-US" altLang="ko-KR" sz="14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747202"/>
                  </a:ext>
                </a:extLst>
              </a:tr>
              <a:tr h="2658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얼굴등록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모바일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등록용 리더 기능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매니저 메뉴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14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웹캠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매니저 메뉴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인텔리빅스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984309"/>
                  </a:ext>
                </a:extLst>
              </a:tr>
              <a:tr h="227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위조판별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적외선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(IR)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카메라 활용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인텔리빅스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167490"/>
                  </a:ext>
                </a:extLst>
              </a:tr>
              <a:tr h="227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VoIP(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인터폰 앱 구현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마이크 탑재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인텔리빅스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636337"/>
                  </a:ext>
                </a:extLst>
              </a:tr>
              <a:tr h="227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QR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리더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별도 지원 없음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960131"/>
                  </a:ext>
                </a:extLst>
              </a:tr>
              <a:tr h="2658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이더넷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BLE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113776"/>
                  </a:ext>
                </a:extLst>
              </a:tr>
              <a:tr h="2658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인증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389346"/>
                  </a:ext>
                </a:extLst>
              </a:tr>
              <a:tr h="2658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확장성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인텔리빅스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886320"/>
                  </a:ext>
                </a:extLst>
              </a:tr>
              <a:tr h="227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특성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‣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인텔리빅스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품질 규격 따름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81" marR="34281" marT="25720" marB="2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8238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A26F470-62DA-4782-BCD4-A08EB00DC56D}"/>
              </a:ext>
            </a:extLst>
          </p:cNvPr>
          <p:cNvSpPr txBox="1"/>
          <p:nvPr/>
        </p:nvSpPr>
        <p:spPr>
          <a:xfrm>
            <a:off x="751426" y="249113"/>
            <a:ext cx="666849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과제개요</a:t>
            </a:r>
            <a:endParaRPr lang="en-US" altLang="ko-KR" sz="13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745C76-4868-44E6-AC2A-86FE8E798022}"/>
              </a:ext>
            </a:extLst>
          </p:cNvPr>
          <p:cNvSpPr txBox="1"/>
          <p:nvPr/>
        </p:nvSpPr>
        <p:spPr>
          <a:xfrm>
            <a:off x="751425" y="465285"/>
            <a:ext cx="86472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317"/>
              </a:spcBef>
            </a:pPr>
            <a:r>
              <a:rPr lang="ko-KR" altLang="en-US" sz="1100" spc="-79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고려 사항</a:t>
            </a:r>
            <a:endParaRPr lang="nn-NO" altLang="ko-KR" sz="1100" spc="-79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26703-CFAB-4E13-BD9F-1F9077DF0C99}"/>
              </a:ext>
            </a:extLst>
          </p:cNvPr>
          <p:cNvSpPr txBox="1"/>
          <p:nvPr/>
        </p:nvSpPr>
        <p:spPr>
          <a:xfrm>
            <a:off x="418803" y="230860"/>
            <a:ext cx="2276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045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113D9-9E96-7618-F403-B12247028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D813837-030C-781C-298E-CA57DBCD6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105232"/>
              </p:ext>
            </p:extLst>
          </p:nvPr>
        </p:nvGraphicFramePr>
        <p:xfrm>
          <a:off x="438172" y="1297550"/>
          <a:ext cx="11314071" cy="480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488">
                  <a:extLst>
                    <a:ext uri="{9D8B030D-6E8A-4147-A177-3AD203B41FA5}">
                      <a16:colId xmlns:a16="http://schemas.microsoft.com/office/drawing/2014/main" val="3177811944"/>
                    </a:ext>
                  </a:extLst>
                </a:gridCol>
                <a:gridCol w="2312908">
                  <a:extLst>
                    <a:ext uri="{9D8B030D-6E8A-4147-A177-3AD203B41FA5}">
                      <a16:colId xmlns:a16="http://schemas.microsoft.com/office/drawing/2014/main" val="2764839958"/>
                    </a:ext>
                  </a:extLst>
                </a:gridCol>
                <a:gridCol w="1358916">
                  <a:extLst>
                    <a:ext uri="{9D8B030D-6E8A-4147-A177-3AD203B41FA5}">
                      <a16:colId xmlns:a16="http://schemas.microsoft.com/office/drawing/2014/main" val="1200856570"/>
                    </a:ext>
                  </a:extLst>
                </a:gridCol>
                <a:gridCol w="1358916">
                  <a:extLst>
                    <a:ext uri="{9D8B030D-6E8A-4147-A177-3AD203B41FA5}">
                      <a16:colId xmlns:a16="http://schemas.microsoft.com/office/drawing/2014/main" val="1336391634"/>
                    </a:ext>
                  </a:extLst>
                </a:gridCol>
                <a:gridCol w="1358916">
                  <a:extLst>
                    <a:ext uri="{9D8B030D-6E8A-4147-A177-3AD203B41FA5}">
                      <a16:colId xmlns:a16="http://schemas.microsoft.com/office/drawing/2014/main" val="3548012359"/>
                    </a:ext>
                  </a:extLst>
                </a:gridCol>
                <a:gridCol w="3839927">
                  <a:extLst>
                    <a:ext uri="{9D8B030D-6E8A-4147-A177-3AD203B41FA5}">
                      <a16:colId xmlns:a16="http://schemas.microsoft.com/office/drawing/2014/main" val="3661710399"/>
                    </a:ext>
                  </a:extLst>
                </a:gridCol>
              </a:tblGrid>
              <a:tr h="41959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인텔리빅스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유비코드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제조사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09170"/>
                  </a:ext>
                </a:extLst>
              </a:tr>
              <a:tr h="303962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87074" marR="87074" marT="32665" marB="3266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요구사양 정리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023663"/>
                  </a:ext>
                </a:extLst>
              </a:tr>
              <a:tr h="261318">
                <a:tc vMerge="1"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089050"/>
                  </a:ext>
                </a:extLst>
              </a:tr>
              <a:tr h="301283">
                <a:tc vMerge="1"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금형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금형은 협의 요청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741058"/>
                  </a:ext>
                </a:extLst>
              </a:tr>
              <a:tr h="339713">
                <a:tc vMerge="1"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회로 개발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◎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 개발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529995"/>
                  </a:ext>
                </a:extLst>
              </a:tr>
              <a:tr h="457306">
                <a:tc vMerge="1"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OS(Linux)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◎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BSP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Device Driver</a:t>
                      </a:r>
                    </a:p>
                    <a:p>
                      <a:pPr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Camera Tunning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055330"/>
                  </a:ext>
                </a:extLst>
              </a:tr>
              <a:tr h="653294">
                <a:tc vMerge="1"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UI/UX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개발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S/W)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 협의 후 별도 진행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54802"/>
                  </a:ext>
                </a:extLst>
              </a:tr>
              <a:tr h="339713">
                <a:tc vMerge="1"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얼굴인식 알고리즘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◎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유비코드와 협업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026441"/>
                  </a:ext>
                </a:extLst>
              </a:tr>
              <a:tr h="26131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</a:p>
                  </a:txBody>
                  <a:tcPr marL="87074" marR="87074" marT="32665" marB="3266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양산 라인 셋업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025520"/>
                  </a:ext>
                </a:extLst>
              </a:tr>
              <a:tr h="2613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자재구매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30132"/>
                  </a:ext>
                </a:extLst>
              </a:tr>
              <a:tr h="2613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신뢰성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role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정리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963844"/>
                  </a:ext>
                </a:extLst>
              </a:tr>
              <a:tr h="2613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납품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492442"/>
                  </a:ext>
                </a:extLst>
              </a:tr>
              <a:tr h="2613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A/S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리퍼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 수리</a:t>
                      </a: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533716"/>
                  </a:ext>
                </a:extLst>
              </a:tr>
              <a:tr h="2613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</a:t>
                      </a:r>
                    </a:p>
                  </a:txBody>
                  <a:tcPr marL="87074" marR="87074" marT="32665" marB="32665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KC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74" marR="87074" marT="32665" marB="3266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7599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26F470-62DA-4782-BCD4-A08EB00DC56D}"/>
              </a:ext>
            </a:extLst>
          </p:cNvPr>
          <p:cNvSpPr txBox="1"/>
          <p:nvPr/>
        </p:nvSpPr>
        <p:spPr>
          <a:xfrm>
            <a:off x="751426" y="249113"/>
            <a:ext cx="666849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과제개요</a:t>
            </a:r>
            <a:endParaRPr lang="en-US" altLang="ko-KR" sz="13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45C76-4868-44E6-AC2A-86FE8E798022}"/>
              </a:ext>
            </a:extLst>
          </p:cNvPr>
          <p:cNvSpPr txBox="1"/>
          <p:nvPr/>
        </p:nvSpPr>
        <p:spPr>
          <a:xfrm>
            <a:off x="751425" y="465285"/>
            <a:ext cx="86472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317"/>
              </a:spcBef>
            </a:pPr>
            <a:r>
              <a:rPr lang="ko-KR" altLang="en-US" sz="1100" spc="-79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협업 업무 분장</a:t>
            </a:r>
            <a:endParaRPr lang="nn-NO" altLang="ko-KR" sz="1100" spc="-79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26703-CFAB-4E13-BD9F-1F9077DF0C99}"/>
              </a:ext>
            </a:extLst>
          </p:cNvPr>
          <p:cNvSpPr txBox="1"/>
          <p:nvPr/>
        </p:nvSpPr>
        <p:spPr>
          <a:xfrm>
            <a:off x="418803" y="230860"/>
            <a:ext cx="2276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88408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직사각형 171"/>
          <p:cNvSpPr/>
          <p:nvPr/>
        </p:nvSpPr>
        <p:spPr>
          <a:xfrm>
            <a:off x="8709628" y="5289931"/>
            <a:ext cx="1415124" cy="514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300" b="1">
              <a:latin typeface="맑은 고딕" panose="020B0503020000020004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8724592" y="2908930"/>
            <a:ext cx="1826567" cy="7933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EB6ADAF-767A-B86C-AFA0-D382D3CA4209}"/>
              </a:ext>
            </a:extLst>
          </p:cNvPr>
          <p:cNvCxnSpPr>
            <a:cxnSpLocks/>
          </p:cNvCxnSpPr>
          <p:nvPr/>
        </p:nvCxnSpPr>
        <p:spPr>
          <a:xfrm flipV="1">
            <a:off x="6468396" y="3834976"/>
            <a:ext cx="0" cy="21023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4">
            <a:extLst>
              <a:ext uri="{FF2B5EF4-FFF2-40B4-BE49-F238E27FC236}">
                <a16:creationId xmlns:a16="http://schemas.microsoft.com/office/drawing/2014/main" id="{1D787A7E-DF8D-561D-0795-861C7190A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4752" y="2176817"/>
            <a:ext cx="1196834" cy="40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751" tIns="38876" rIns="77751" bIns="38876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solidFill>
                  <a:srgbClr val="333333"/>
                </a:solidFill>
                <a:latin typeface="맑은 고딕" panose="020B0503020000020004" pitchFamily="50" charset="-127"/>
              </a:rPr>
              <a:t>2.4” LCD Display with Touch</a:t>
            </a:r>
            <a:endParaRPr lang="en-US" altLang="en-US" sz="1050" dirty="0">
              <a:solidFill>
                <a:srgbClr val="FFFF00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25D8D8F-974F-8784-383A-71AE93D54751}"/>
              </a:ext>
            </a:extLst>
          </p:cNvPr>
          <p:cNvGrpSpPr/>
          <p:nvPr/>
        </p:nvGrpSpPr>
        <p:grpSpPr>
          <a:xfrm>
            <a:off x="8721432" y="2050493"/>
            <a:ext cx="1392386" cy="607340"/>
            <a:chOff x="6746875" y="2160588"/>
            <a:chExt cx="1538288" cy="944562"/>
          </a:xfrm>
        </p:grpSpPr>
        <p:pic>
          <p:nvPicPr>
            <p:cNvPr id="59" name="그림 8">
              <a:extLst>
                <a:ext uri="{FF2B5EF4-FFF2-40B4-BE49-F238E27FC236}">
                  <a16:creationId xmlns:a16="http://schemas.microsoft.com/office/drawing/2014/main" id="{476A9160-6E4B-E7A8-2D4E-F345C616E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6875" y="2160588"/>
              <a:ext cx="1538288" cy="944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D6D8F2E7-E990-D479-CA17-F47731C50A4B}"/>
                </a:ext>
              </a:extLst>
            </p:cNvPr>
            <p:cNvSpPr/>
            <p:nvPr/>
          </p:nvSpPr>
          <p:spPr>
            <a:xfrm>
              <a:off x="7878444" y="2416175"/>
              <a:ext cx="271781" cy="2460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맑은 고딕" panose="020B0503020000020004" pitchFamily="50" charset="-127"/>
              </a:endParaRPr>
            </a:p>
          </p:txBody>
        </p:sp>
      </p:grpSp>
      <p:sp>
        <p:nvSpPr>
          <p:cNvPr id="12" name="TextBox 29">
            <a:extLst>
              <a:ext uri="{FF2B5EF4-FFF2-40B4-BE49-F238E27FC236}">
                <a16:creationId xmlns:a16="http://schemas.microsoft.com/office/drawing/2014/main" id="{58D442B5-CD30-7484-B919-13AAD904B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7231" y="5428428"/>
            <a:ext cx="991254" cy="247788"/>
          </a:xfrm>
          <a:prstGeom prst="rect">
            <a:avLst/>
          </a:prstGeom>
          <a:noFill/>
          <a:ln>
            <a:noFill/>
          </a:ln>
        </p:spPr>
        <p:txBody>
          <a:bodyPr wrap="square" lIns="77751" tIns="38876" rIns="77751" bIns="38876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 dirty="0">
                <a:latin typeface="맑은 고딕" panose="020B0503020000020004" pitchFamily="50" charset="-127"/>
              </a:rPr>
              <a:t>Ext. MIC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6218B4A-D30C-2F2A-33AB-C743F45044A1}"/>
              </a:ext>
            </a:extLst>
          </p:cNvPr>
          <p:cNvSpPr/>
          <p:nvPr/>
        </p:nvSpPr>
        <p:spPr>
          <a:xfrm>
            <a:off x="5217931" y="1275784"/>
            <a:ext cx="2019188" cy="2826738"/>
          </a:xfrm>
          <a:prstGeom prst="roundRect">
            <a:avLst/>
          </a:prstGeom>
          <a:solidFill>
            <a:srgbClr val="355EE3"/>
          </a:solidFill>
          <a:ln w="127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00">
              <a:latin typeface="맑은 고딕" panose="020B0503020000020004" pitchFamily="50" charset="-127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66EDDBE6-EECC-860C-6364-582DFC18F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3975" y="1737191"/>
            <a:ext cx="140682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Application Processor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E513A8A9-D2C7-D169-B9EA-F18C5E109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495" y="2427480"/>
            <a:ext cx="15637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FFFF00"/>
                </a:solidFill>
                <a:latin typeface="맑은 고딕" panose="020B0503020000020004" pitchFamily="50" charset="-127"/>
              </a:rPr>
              <a:t>Rockchip</a:t>
            </a: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FFFF00"/>
                </a:solidFill>
                <a:latin typeface="맑은 고딕" panose="020B0503020000020004" pitchFamily="50" charset="-127"/>
              </a:rPr>
              <a:t>RK3568J</a:t>
            </a:r>
          </a:p>
        </p:txBody>
      </p:sp>
      <p:grpSp>
        <p:nvGrpSpPr>
          <p:cNvPr id="115" name="그룹 114"/>
          <p:cNvGrpSpPr/>
          <p:nvPr/>
        </p:nvGrpSpPr>
        <p:grpSpPr>
          <a:xfrm>
            <a:off x="8951991" y="2945951"/>
            <a:ext cx="1428710" cy="719313"/>
            <a:chOff x="8657978" y="2905610"/>
            <a:chExt cx="1607354" cy="809254"/>
          </a:xfrm>
        </p:grpSpPr>
        <p:pic>
          <p:nvPicPr>
            <p:cNvPr id="31" name="그림 17">
              <a:extLst>
                <a:ext uri="{FF2B5EF4-FFF2-40B4-BE49-F238E27FC236}">
                  <a16:creationId xmlns:a16="http://schemas.microsoft.com/office/drawing/2014/main" id="{737E4677-DECA-05C4-FFA4-FCCD03BA70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5899876">
              <a:off x="9451842" y="2901375"/>
              <a:ext cx="774359" cy="852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그림 21">
              <a:extLst>
                <a:ext uri="{FF2B5EF4-FFF2-40B4-BE49-F238E27FC236}">
                  <a16:creationId xmlns:a16="http://schemas.microsoft.com/office/drawing/2014/main" id="{FD3BDFA7-92E5-FDFD-487C-092D7CD590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5899876">
              <a:off x="8696139" y="2867449"/>
              <a:ext cx="774359" cy="85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4" name="TextBox 23">
            <a:extLst>
              <a:ext uri="{FF2B5EF4-FFF2-40B4-BE49-F238E27FC236}">
                <a16:creationId xmlns:a16="http://schemas.microsoft.com/office/drawing/2014/main" id="{73453BFE-CFC9-C075-1EB3-44A7596A1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3877" y="2078784"/>
            <a:ext cx="13176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>
                <a:latin typeface="맑은 고딕" panose="020B0503020000020004" pitchFamily="50" charset="-127"/>
              </a:rPr>
              <a:t>MIPI-DSI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1D5681-1537-02B0-611F-5C4A682A7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2171" y="3836679"/>
            <a:ext cx="112390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>
                <a:latin typeface="맑은 고딕" panose="020B0503020000020004" pitchFamily="50" charset="-127"/>
              </a:rPr>
              <a:t>UART</a:t>
            </a:r>
          </a:p>
        </p:txBody>
      </p:sp>
      <p:sp>
        <p:nvSpPr>
          <p:cNvPr id="54" name="TextBox 58">
            <a:extLst>
              <a:ext uri="{FF2B5EF4-FFF2-40B4-BE49-F238E27FC236}">
                <a16:creationId xmlns:a16="http://schemas.microsoft.com/office/drawing/2014/main" id="{0F1CED67-3F91-B341-2291-28C403DD3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1431" y="3823660"/>
            <a:ext cx="13176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>
                <a:latin typeface="맑은 고딕" panose="020B0503020000020004" pitchFamily="50" charset="-127"/>
              </a:rPr>
              <a:t>SPI &amp; UART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3A7949D-13E7-045E-6BEB-DC1AAC9437E9}"/>
              </a:ext>
            </a:extLst>
          </p:cNvPr>
          <p:cNvSpPr/>
          <p:nvPr/>
        </p:nvSpPr>
        <p:spPr>
          <a:xfrm>
            <a:off x="5656359" y="5401623"/>
            <a:ext cx="1133286" cy="83483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>
                <a:solidFill>
                  <a:srgbClr val="1350BD"/>
                </a:solidFill>
                <a:latin typeface="맑은 고딕" panose="020B0503020000020004" pitchFamily="50" charset="-127"/>
              </a:rPr>
              <a:t>PMIC</a:t>
            </a:r>
          </a:p>
          <a:p>
            <a:pPr algn="ctr">
              <a:defRPr/>
            </a:pPr>
            <a:r>
              <a:rPr lang="pt-BR" sz="1100" b="1" dirty="0">
                <a:solidFill>
                  <a:srgbClr val="1350BD"/>
                </a:solidFill>
                <a:latin typeface="맑은 고딕" panose="020B0503020000020004" pitchFamily="50" charset="-127"/>
              </a:rPr>
              <a:t> (</a:t>
            </a:r>
            <a:r>
              <a:rPr lang="en-US" sz="1100" b="1" dirty="0">
                <a:solidFill>
                  <a:srgbClr val="1350BD"/>
                </a:solidFill>
                <a:latin typeface="맑은 고딕" panose="020B0503020000020004" pitchFamily="50" charset="-127"/>
              </a:rPr>
              <a:t>RK808-2)</a:t>
            </a:r>
          </a:p>
        </p:txBody>
      </p:sp>
      <p:sp>
        <p:nvSpPr>
          <p:cNvPr id="49" name="TextBox 52">
            <a:extLst>
              <a:ext uri="{FF2B5EF4-FFF2-40B4-BE49-F238E27FC236}">
                <a16:creationId xmlns:a16="http://schemas.microsoft.com/office/drawing/2014/main" id="{47A2EC35-4C61-3AE1-1480-186279AB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729" y="1406421"/>
            <a:ext cx="15499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맑은 고딕" panose="020B0503020000020004" pitchFamily="50" charset="-127"/>
              </a:rPr>
              <a:t>NFC Antenna</a:t>
            </a:r>
            <a:endParaRPr lang="en-US" alt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66" name="TextBox 52">
            <a:extLst>
              <a:ext uri="{FF2B5EF4-FFF2-40B4-BE49-F238E27FC236}">
                <a16:creationId xmlns:a16="http://schemas.microsoft.com/office/drawing/2014/main" id="{47A2EC35-4C61-3AE1-1480-186279AB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226" y="1391301"/>
            <a:ext cx="49370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맑은 고딕" panose="020B0503020000020004" pitchFamily="50" charset="-127"/>
              </a:rPr>
              <a:t>I2C</a:t>
            </a:r>
            <a:endParaRPr lang="en-US" altLang="en-US" sz="1100" dirty="0">
              <a:latin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154894" y="1618134"/>
            <a:ext cx="2028853" cy="45728"/>
            <a:chOff x="2647538" y="6369588"/>
            <a:chExt cx="2028853" cy="45728"/>
          </a:xfrm>
        </p:grpSpPr>
        <p:cxnSp>
          <p:nvCxnSpPr>
            <p:cNvPr id="68" name="직선 화살표 연결선 67"/>
            <p:cNvCxnSpPr/>
            <p:nvPr/>
          </p:nvCxnSpPr>
          <p:spPr>
            <a:xfrm>
              <a:off x="2647538" y="6392452"/>
              <a:ext cx="2028853" cy="0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/>
            <p:cNvSpPr/>
            <p:nvPr/>
          </p:nvSpPr>
          <p:spPr>
            <a:xfrm flipH="1">
              <a:off x="3791861" y="6369588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1" name="직선 화살표 연결선 70"/>
          <p:cNvCxnSpPr/>
          <p:nvPr/>
        </p:nvCxnSpPr>
        <p:spPr>
          <a:xfrm>
            <a:off x="856467" y="1641616"/>
            <a:ext cx="1425382" cy="0"/>
          </a:xfrm>
          <a:prstGeom prst="straightConnector1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wifi 신호 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29" y="1172517"/>
            <a:ext cx="401098" cy="40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직선 화살표 연결선 72"/>
          <p:cNvCxnSpPr/>
          <p:nvPr/>
        </p:nvCxnSpPr>
        <p:spPr>
          <a:xfrm>
            <a:off x="862819" y="1490663"/>
            <a:ext cx="0" cy="150335"/>
          </a:xfrm>
          <a:prstGeom prst="straightConnector1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2241940" y="1431502"/>
            <a:ext cx="1184284" cy="417287"/>
          </a:xfrm>
          <a:prstGeom prst="rect">
            <a:avLst/>
          </a:prstGeom>
          <a:solidFill>
            <a:srgbClr val="269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atin typeface="맑은 고딕" panose="020B0503020000020004" pitchFamily="50" charset="-127"/>
                <a:ea typeface="맑은 고딕" panose="020B0503020000020004" pitchFamily="50" charset="-127"/>
              </a:rPr>
              <a:t>NFC</a:t>
            </a:r>
            <a:endParaRPr lang="ko-KR" altLang="en-US" sz="13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635245" y="3360377"/>
            <a:ext cx="1184284" cy="417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2A48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NFC</a:t>
            </a:r>
            <a:endParaRPr lang="ko-KR" altLang="en-US" sz="1300" b="1" dirty="0">
              <a:solidFill>
                <a:srgbClr val="2A48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52">
            <a:extLst>
              <a:ext uri="{FF2B5EF4-FFF2-40B4-BE49-F238E27FC236}">
                <a16:creationId xmlns:a16="http://schemas.microsoft.com/office/drawing/2014/main" id="{47A2EC35-4C61-3AE1-1480-186279AB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4541" y="1393530"/>
            <a:ext cx="153745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맑은 고딕" panose="020B0503020000020004" pitchFamily="50" charset="-127"/>
              </a:rPr>
              <a:t>UART/SPI</a:t>
            </a:r>
            <a:endParaRPr lang="en-US" altLang="en-US" sz="1050" dirty="0">
              <a:latin typeface="맑은 고딕" panose="020B0503020000020004" pitchFamily="50" charset="-127"/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7322067" y="1618134"/>
            <a:ext cx="1339205" cy="45728"/>
            <a:chOff x="3156379" y="6369588"/>
            <a:chExt cx="1339205" cy="45728"/>
          </a:xfrm>
        </p:grpSpPr>
        <p:cxnSp>
          <p:nvCxnSpPr>
            <p:cNvPr id="81" name="직선 화살표 연결선 80"/>
            <p:cNvCxnSpPr/>
            <p:nvPr/>
          </p:nvCxnSpPr>
          <p:spPr>
            <a:xfrm>
              <a:off x="3156379" y="6392452"/>
              <a:ext cx="1339205" cy="0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타원 81"/>
            <p:cNvSpPr/>
            <p:nvPr/>
          </p:nvSpPr>
          <p:spPr>
            <a:xfrm flipH="1">
              <a:off x="3791861" y="6369588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9" name="TextBox 52">
            <a:extLst>
              <a:ext uri="{FF2B5EF4-FFF2-40B4-BE49-F238E27FC236}">
                <a16:creationId xmlns:a16="http://schemas.microsoft.com/office/drawing/2014/main" id="{47A2EC35-4C61-3AE1-1480-186279AB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8194" y="1391849"/>
            <a:ext cx="15499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맑은 고딕" panose="020B0503020000020004" pitchFamily="50" charset="-127"/>
              </a:rPr>
              <a:t>BT Antenna</a:t>
            </a:r>
            <a:endParaRPr lang="en-US" altLang="en-US" sz="1100" dirty="0">
              <a:latin typeface="맑은 고딕" panose="020B0503020000020004" pitchFamily="50" charset="-127"/>
            </a:endParaRPr>
          </a:p>
        </p:txBody>
      </p:sp>
      <p:cxnSp>
        <p:nvCxnSpPr>
          <p:cNvPr id="90" name="직선 화살표 연결선 89"/>
          <p:cNvCxnSpPr/>
          <p:nvPr/>
        </p:nvCxnSpPr>
        <p:spPr>
          <a:xfrm flipH="1">
            <a:off x="10113818" y="1641616"/>
            <a:ext cx="1182760" cy="0"/>
          </a:xfrm>
          <a:prstGeom prst="straightConnector1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Picture 2" descr="wifi 신호 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04440" y="1172517"/>
            <a:ext cx="401098" cy="40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2" name="직선 화살표 연결선 91"/>
          <p:cNvCxnSpPr/>
          <p:nvPr/>
        </p:nvCxnSpPr>
        <p:spPr>
          <a:xfrm>
            <a:off x="11302930" y="1490663"/>
            <a:ext cx="0" cy="150335"/>
          </a:xfrm>
          <a:prstGeom prst="straightConnector1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/>
          <p:cNvSpPr/>
          <p:nvPr/>
        </p:nvSpPr>
        <p:spPr>
          <a:xfrm>
            <a:off x="8721432" y="1431502"/>
            <a:ext cx="1392386" cy="417287"/>
          </a:xfrm>
          <a:prstGeom prst="rect">
            <a:avLst/>
          </a:prstGeom>
          <a:solidFill>
            <a:srgbClr val="2A48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atin typeface="맑은 고딕" panose="020B0503020000020004" pitchFamily="50" charset="-127"/>
                <a:ea typeface="맑은 고딕" panose="020B0503020000020004" pitchFamily="50" charset="-127"/>
              </a:rPr>
              <a:t>BLE</a:t>
            </a:r>
            <a:endParaRPr lang="ko-KR" altLang="en-US" sz="13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7322067" y="2331927"/>
            <a:ext cx="1339205" cy="45728"/>
            <a:chOff x="3156379" y="6369588"/>
            <a:chExt cx="1339205" cy="45728"/>
          </a:xfrm>
        </p:grpSpPr>
        <p:cxnSp>
          <p:nvCxnSpPr>
            <p:cNvPr id="107" name="직선 화살표 연결선 106"/>
            <p:cNvCxnSpPr/>
            <p:nvPr/>
          </p:nvCxnSpPr>
          <p:spPr>
            <a:xfrm>
              <a:off x="3156379" y="6392452"/>
              <a:ext cx="1339205" cy="0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타원 107"/>
            <p:cNvSpPr/>
            <p:nvPr/>
          </p:nvSpPr>
          <p:spPr>
            <a:xfrm flipH="1">
              <a:off x="3791861" y="6369588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3460408" y="2331927"/>
            <a:ext cx="1720493" cy="45728"/>
            <a:chOff x="2775091" y="6369588"/>
            <a:chExt cx="1720493" cy="45728"/>
          </a:xfrm>
        </p:grpSpPr>
        <p:cxnSp>
          <p:nvCxnSpPr>
            <p:cNvPr id="110" name="직선 화살표 연결선 109"/>
            <p:cNvCxnSpPr/>
            <p:nvPr/>
          </p:nvCxnSpPr>
          <p:spPr>
            <a:xfrm>
              <a:off x="2775091" y="6392452"/>
              <a:ext cx="1720493" cy="0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타원 110"/>
            <p:cNvSpPr/>
            <p:nvPr/>
          </p:nvSpPr>
          <p:spPr>
            <a:xfrm flipH="1">
              <a:off x="3623169" y="6369588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2" name="TextBox 23">
            <a:extLst>
              <a:ext uri="{FF2B5EF4-FFF2-40B4-BE49-F238E27FC236}">
                <a16:creationId xmlns:a16="http://schemas.microsoft.com/office/drawing/2014/main" id="{73453BFE-CFC9-C075-1EB3-44A7596A1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642" y="2078784"/>
            <a:ext cx="13176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맑은 고딕" panose="020B0503020000020004" pitchFamily="50" charset="-127"/>
              </a:rPr>
              <a:t>MII/MDC/MDIO</a:t>
            </a:r>
            <a:endParaRPr lang="en-US" alt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1757680" y="2022954"/>
            <a:ext cx="1668544" cy="634880"/>
          </a:xfrm>
          <a:prstGeom prst="rect">
            <a:avLst/>
          </a:prstGeom>
          <a:solidFill>
            <a:srgbClr val="269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pt-BR" altLang="ko-KR" sz="1300">
                <a:solidFill>
                  <a:schemeClr val="bg1"/>
                </a:solidFill>
                <a:latin typeface="맑은 고딕" panose="020B0503020000020004" pitchFamily="50" charset="-127"/>
              </a:rPr>
              <a:t>Ethernet PHY</a:t>
            </a:r>
          </a:p>
          <a:p>
            <a:pPr algn="ctr">
              <a:defRPr/>
            </a:pPr>
            <a:r>
              <a:rPr lang="pt-BR" altLang="ko-KR" sz="130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300">
                <a:solidFill>
                  <a:schemeClr val="bg1"/>
                </a:solidFill>
                <a:latin typeface="맑은 고딕" panose="020B0503020000020004" pitchFamily="50" charset="-127"/>
              </a:rPr>
              <a:t>RTL8201F-VB-CG)</a:t>
            </a:r>
            <a:endParaRPr lang="en-US" altLang="ko-KR" sz="13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16" name="그룹 115"/>
          <p:cNvGrpSpPr/>
          <p:nvPr/>
        </p:nvGrpSpPr>
        <p:grpSpPr>
          <a:xfrm>
            <a:off x="3460408" y="3263875"/>
            <a:ext cx="1720493" cy="45728"/>
            <a:chOff x="2775091" y="6369588"/>
            <a:chExt cx="1720493" cy="45728"/>
          </a:xfrm>
        </p:grpSpPr>
        <p:cxnSp>
          <p:nvCxnSpPr>
            <p:cNvPr id="117" name="직선 화살표 연결선 116"/>
            <p:cNvCxnSpPr/>
            <p:nvPr/>
          </p:nvCxnSpPr>
          <p:spPr>
            <a:xfrm>
              <a:off x="2775091" y="6392452"/>
              <a:ext cx="1720493" cy="0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타원 117"/>
            <p:cNvSpPr/>
            <p:nvPr/>
          </p:nvSpPr>
          <p:spPr>
            <a:xfrm flipH="1">
              <a:off x="3623169" y="6369588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9" name="TextBox 52">
            <a:extLst>
              <a:ext uri="{FF2B5EF4-FFF2-40B4-BE49-F238E27FC236}">
                <a16:creationId xmlns:a16="http://schemas.microsoft.com/office/drawing/2014/main" id="{47A2EC35-4C61-3AE1-1480-186279AB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226" y="3014020"/>
            <a:ext cx="49370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맑은 고딕" panose="020B0503020000020004" pitchFamily="50" charset="-127"/>
              </a:rPr>
              <a:t>I2C</a:t>
            </a:r>
            <a:endParaRPr lang="en-US" alt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2241940" y="2891383"/>
            <a:ext cx="1184284" cy="557948"/>
          </a:xfrm>
          <a:prstGeom prst="rect">
            <a:avLst/>
          </a:prstGeom>
          <a:solidFill>
            <a:srgbClr val="269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atin typeface="맑은 고딕" panose="020B0503020000020004" pitchFamily="50" charset="-127"/>
              </a:rPr>
              <a:t>RTC</a:t>
            </a:r>
          </a:p>
          <a:p>
            <a:pPr algn="ctr"/>
            <a:r>
              <a:rPr lang="en-US" altLang="ko-KR" sz="1300" b="1">
                <a:latin typeface="맑은 고딕" panose="020B0503020000020004" pitchFamily="50" charset="-127"/>
              </a:rPr>
              <a:t>(Optional)</a:t>
            </a:r>
          </a:p>
        </p:txBody>
      </p:sp>
      <p:sp>
        <p:nvSpPr>
          <p:cNvPr id="121" name="TextBox 23">
            <a:extLst>
              <a:ext uri="{FF2B5EF4-FFF2-40B4-BE49-F238E27FC236}">
                <a16:creationId xmlns:a16="http://schemas.microsoft.com/office/drawing/2014/main" id="{73453BFE-CFC9-C075-1EB3-44A7596A1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3877" y="3030476"/>
            <a:ext cx="13176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맑은 고딕" panose="020B0503020000020004" pitchFamily="50" charset="-127"/>
              </a:rPr>
              <a:t>2x MIPI-CSI</a:t>
            </a:r>
            <a:endParaRPr lang="en-US" altLang="en-US" sz="1100" dirty="0">
              <a:latin typeface="맑은 고딕" panose="020B0503020000020004" pitchFamily="50" charset="-127"/>
            </a:endParaRPr>
          </a:p>
        </p:txBody>
      </p:sp>
      <p:grpSp>
        <p:nvGrpSpPr>
          <p:cNvPr id="122" name="그룹 121"/>
          <p:cNvGrpSpPr/>
          <p:nvPr/>
        </p:nvGrpSpPr>
        <p:grpSpPr>
          <a:xfrm>
            <a:off x="7322067" y="3283619"/>
            <a:ext cx="1339205" cy="45728"/>
            <a:chOff x="3156379" y="6369588"/>
            <a:chExt cx="1339205" cy="45728"/>
          </a:xfrm>
        </p:grpSpPr>
        <p:cxnSp>
          <p:nvCxnSpPr>
            <p:cNvPr id="123" name="직선 화살표 연결선 122"/>
            <p:cNvCxnSpPr/>
            <p:nvPr/>
          </p:nvCxnSpPr>
          <p:spPr>
            <a:xfrm>
              <a:off x="3156379" y="6392452"/>
              <a:ext cx="1339205" cy="0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타원 123"/>
            <p:cNvSpPr/>
            <p:nvPr/>
          </p:nvSpPr>
          <p:spPr>
            <a:xfrm flipH="1">
              <a:off x="3791861" y="6369588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6">
            <a:extLst>
              <a:ext uri="{FF2B5EF4-FFF2-40B4-BE49-F238E27FC236}">
                <a16:creationId xmlns:a16="http://schemas.microsoft.com/office/drawing/2014/main" id="{2089D0CF-3C57-A55A-C1DC-129727742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7710" y="3404599"/>
            <a:ext cx="474214" cy="23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751" tIns="38876" rIns="77751" bIns="38876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IR</a:t>
            </a:r>
          </a:p>
        </p:txBody>
      </p:sp>
      <p:sp>
        <p:nvSpPr>
          <p:cNvPr id="10" name="TextBox 36">
            <a:extLst>
              <a:ext uri="{FF2B5EF4-FFF2-40B4-BE49-F238E27FC236}">
                <a16:creationId xmlns:a16="http://schemas.microsoft.com/office/drawing/2014/main" id="{9C832646-2386-F014-6942-FEB14F03F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4884" y="2966745"/>
            <a:ext cx="474214" cy="23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751" tIns="38876" rIns="77751" bIns="38876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VIS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417954" y="3698206"/>
            <a:ext cx="2008270" cy="742798"/>
          </a:xfrm>
          <a:prstGeom prst="rect">
            <a:avLst/>
          </a:prstGeom>
          <a:solidFill>
            <a:srgbClr val="269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atin typeface="맑은 고딕" panose="020B0503020000020004" pitchFamily="50" charset="-127"/>
              </a:rPr>
              <a:t>S1-RS422</a:t>
            </a:r>
          </a:p>
          <a:p>
            <a:pPr algn="ctr"/>
            <a:r>
              <a:rPr lang="en-US" altLang="ko-KR" sz="1300" b="1">
                <a:latin typeface="맑은 고딕" panose="020B0503020000020004" pitchFamily="50" charset="-127"/>
              </a:rPr>
              <a:t>SUB-MCU</a:t>
            </a:r>
          </a:p>
          <a:p>
            <a:pPr algn="ctr"/>
            <a:r>
              <a:rPr lang="en-US" altLang="ko-KR" sz="1300" b="1">
                <a:latin typeface="맑은 고딕" panose="020B0503020000020004" pitchFamily="50" charset="-127"/>
              </a:rPr>
              <a:t>(STM32C011J4M6)</a:t>
            </a:r>
          </a:p>
        </p:txBody>
      </p:sp>
      <p:grpSp>
        <p:nvGrpSpPr>
          <p:cNvPr id="127" name="그룹 126"/>
          <p:cNvGrpSpPr/>
          <p:nvPr/>
        </p:nvGrpSpPr>
        <p:grpSpPr>
          <a:xfrm>
            <a:off x="3460408" y="4069605"/>
            <a:ext cx="1720493" cy="45728"/>
            <a:chOff x="2775091" y="6369588"/>
            <a:chExt cx="1720493" cy="45728"/>
          </a:xfrm>
        </p:grpSpPr>
        <p:cxnSp>
          <p:nvCxnSpPr>
            <p:cNvPr id="128" name="직선 화살표 연결선 127"/>
            <p:cNvCxnSpPr/>
            <p:nvPr/>
          </p:nvCxnSpPr>
          <p:spPr>
            <a:xfrm>
              <a:off x="2775091" y="6392452"/>
              <a:ext cx="1720493" cy="0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타원 128"/>
            <p:cNvSpPr/>
            <p:nvPr/>
          </p:nvSpPr>
          <p:spPr>
            <a:xfrm flipH="1">
              <a:off x="3623169" y="6369588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7322067" y="4068768"/>
            <a:ext cx="1339205" cy="45728"/>
            <a:chOff x="3156379" y="6369588"/>
            <a:chExt cx="1339205" cy="45728"/>
          </a:xfrm>
        </p:grpSpPr>
        <p:cxnSp>
          <p:nvCxnSpPr>
            <p:cNvPr id="131" name="직선 화살표 연결선 130"/>
            <p:cNvCxnSpPr/>
            <p:nvPr/>
          </p:nvCxnSpPr>
          <p:spPr>
            <a:xfrm>
              <a:off x="3156379" y="6392452"/>
              <a:ext cx="1339205" cy="0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타원 131"/>
            <p:cNvSpPr/>
            <p:nvPr/>
          </p:nvSpPr>
          <p:spPr>
            <a:xfrm flipH="1">
              <a:off x="3791861" y="6369588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3" name="직사각형 132"/>
          <p:cNvSpPr/>
          <p:nvPr/>
        </p:nvSpPr>
        <p:spPr>
          <a:xfrm>
            <a:off x="8721432" y="3916457"/>
            <a:ext cx="1392386" cy="417287"/>
          </a:xfrm>
          <a:prstGeom prst="rect">
            <a:avLst/>
          </a:prstGeom>
          <a:solidFill>
            <a:srgbClr val="2A48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atin typeface="맑은 고딕" panose="020B0503020000020004" pitchFamily="50" charset="-127"/>
              </a:rPr>
              <a:t>Debug Port</a:t>
            </a:r>
          </a:p>
        </p:txBody>
      </p:sp>
      <p:sp>
        <p:nvSpPr>
          <p:cNvPr id="134" name="직사각형 133"/>
          <p:cNvSpPr/>
          <p:nvPr/>
        </p:nvSpPr>
        <p:spPr>
          <a:xfrm>
            <a:off x="6406566" y="4623690"/>
            <a:ext cx="987396" cy="4172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latin typeface="맑은 고딕" panose="020B0503020000020004" pitchFamily="50" charset="-127"/>
              </a:rPr>
              <a:t>DRAM I/F</a:t>
            </a:r>
          </a:p>
          <a:p>
            <a:pPr algn="ctr"/>
            <a:r>
              <a:rPr lang="en-US" altLang="ko-KR" sz="1100" b="1">
                <a:latin typeface="맑은 고딕" panose="020B0503020000020004" pitchFamily="50" charset="-127"/>
              </a:rPr>
              <a:t>(2GB)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5061090" y="4623690"/>
            <a:ext cx="987396" cy="4172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맑은 고딕" panose="020B0503020000020004" pitchFamily="50" charset="-127"/>
              </a:rPr>
              <a:t>eMMC I/F</a:t>
            </a:r>
          </a:p>
          <a:p>
            <a:pPr algn="ctr"/>
            <a:r>
              <a:rPr lang="en-US" altLang="ko-KR" sz="1100" b="1" dirty="0">
                <a:latin typeface="맑은 고딕" panose="020B0503020000020004" pitchFamily="50" charset="-127"/>
              </a:rPr>
              <a:t>(16GB)</a:t>
            </a:r>
          </a:p>
        </p:txBody>
      </p:sp>
      <p:grpSp>
        <p:nvGrpSpPr>
          <p:cNvPr id="140" name="그룹 139"/>
          <p:cNvGrpSpPr/>
          <p:nvPr/>
        </p:nvGrpSpPr>
        <p:grpSpPr>
          <a:xfrm rot="5400000">
            <a:off x="5311592" y="4343049"/>
            <a:ext cx="462975" cy="45728"/>
            <a:chOff x="3449392" y="6369588"/>
            <a:chExt cx="462975" cy="45728"/>
          </a:xfrm>
        </p:grpSpPr>
        <p:cxnSp>
          <p:nvCxnSpPr>
            <p:cNvPr id="141" name="직선 화살표 연결선 140"/>
            <p:cNvCxnSpPr/>
            <p:nvPr/>
          </p:nvCxnSpPr>
          <p:spPr>
            <a:xfrm rot="16200000">
              <a:off x="3680880" y="6163619"/>
              <a:ext cx="0" cy="462975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타원 141"/>
            <p:cNvSpPr/>
            <p:nvPr/>
          </p:nvSpPr>
          <p:spPr>
            <a:xfrm flipH="1">
              <a:off x="3658257" y="6369588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58" name="직선 화살표 연결선 157"/>
          <p:cNvCxnSpPr/>
          <p:nvPr/>
        </p:nvCxnSpPr>
        <p:spPr>
          <a:xfrm flipH="1">
            <a:off x="6223006" y="4137904"/>
            <a:ext cx="1" cy="1227992"/>
          </a:xfrm>
          <a:prstGeom prst="straightConnector1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9" name="그룹 1038"/>
          <p:cNvGrpSpPr/>
          <p:nvPr/>
        </p:nvGrpSpPr>
        <p:grpSpPr>
          <a:xfrm>
            <a:off x="6917575" y="5567955"/>
            <a:ext cx="1713066" cy="281930"/>
            <a:chOff x="6917575" y="5862869"/>
            <a:chExt cx="1713066" cy="281930"/>
          </a:xfrm>
        </p:grpSpPr>
        <p:sp>
          <p:nvSpPr>
            <p:cNvPr id="42" name="TextBox 39">
              <a:extLst>
                <a:ext uri="{FF2B5EF4-FFF2-40B4-BE49-F238E27FC236}">
                  <a16:creationId xmlns:a16="http://schemas.microsoft.com/office/drawing/2014/main" id="{546CD828-75A7-564E-93F5-E3FC3891E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0127" y="5862869"/>
              <a:ext cx="131768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FE8C2E"/>
                </a:buClr>
                <a:buSzPct val="85000"/>
                <a:buFont typeface="Wingdings" panose="05000000000000000000" pitchFamily="2" charset="2"/>
                <a:buChar char="¢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4CD416"/>
                </a:buClr>
                <a:buSzPct val="85000"/>
                <a:buFont typeface="Wingdings" panose="05000000000000000000" pitchFamily="2" charset="2"/>
                <a:buChar char="¤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33BDFB"/>
                </a:buClr>
                <a:buSzPct val="85000"/>
                <a:buFont typeface="Wingdings" panose="05000000000000000000" pitchFamily="2" charset="2"/>
                <a:buChar char="¤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¤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489FF"/>
                </a:buClr>
                <a:buSzPct val="85000"/>
                <a:buFont typeface="Wingdings" panose="05000000000000000000" pitchFamily="2" charset="2"/>
                <a:buChar char="¤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C489FF"/>
                </a:buClr>
                <a:buSzPct val="85000"/>
                <a:buFont typeface="Wingdings" panose="05000000000000000000" pitchFamily="2" charset="2"/>
                <a:buChar char="¤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C489FF"/>
                </a:buClr>
                <a:buSzPct val="85000"/>
                <a:buFont typeface="Wingdings" panose="05000000000000000000" pitchFamily="2" charset="2"/>
                <a:buChar char="¤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C489FF"/>
                </a:buClr>
                <a:buSzPct val="85000"/>
                <a:buFont typeface="Wingdings" panose="05000000000000000000" pitchFamily="2" charset="2"/>
                <a:buChar char="¤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C489FF"/>
                </a:buClr>
                <a:buSzPct val="85000"/>
                <a:buFont typeface="Wingdings" panose="05000000000000000000" pitchFamily="2" charset="2"/>
                <a:buChar char="¤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100">
                  <a:latin typeface="맑은 고딕" panose="020B0503020000020004" pitchFamily="50" charset="-127"/>
                </a:rPr>
                <a:t>Analog</a:t>
              </a:r>
              <a:endParaRPr lang="en-US" altLang="en-US" sz="1100" dirty="0">
                <a:latin typeface="맑은 고딕" panose="020B0503020000020004" pitchFamily="50" charset="-127"/>
              </a:endParaRPr>
            </a:p>
          </p:txBody>
        </p:sp>
        <p:grpSp>
          <p:nvGrpSpPr>
            <p:cNvPr id="161" name="그룹 160"/>
            <p:cNvGrpSpPr/>
            <p:nvPr/>
          </p:nvGrpSpPr>
          <p:grpSpPr>
            <a:xfrm>
              <a:off x="6917575" y="6099071"/>
              <a:ext cx="1713066" cy="45728"/>
              <a:chOff x="2963325" y="6369588"/>
              <a:chExt cx="1713066" cy="45728"/>
            </a:xfrm>
          </p:grpSpPr>
          <p:cxnSp>
            <p:nvCxnSpPr>
              <p:cNvPr id="162" name="직선 화살표 연결선 161"/>
              <p:cNvCxnSpPr/>
              <p:nvPr/>
            </p:nvCxnSpPr>
            <p:spPr>
              <a:xfrm>
                <a:off x="2963325" y="6392452"/>
                <a:ext cx="1713066" cy="0"/>
              </a:xfrm>
              <a:prstGeom prst="straightConnector1">
                <a:avLst/>
              </a:prstGeom>
              <a:ln w="12700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타원 162"/>
              <p:cNvSpPr/>
              <p:nvPr/>
            </p:nvSpPr>
            <p:spPr>
              <a:xfrm flipH="1">
                <a:off x="3791861" y="6369588"/>
                <a:ext cx="45720" cy="4572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1036" name="Picture 8" descr="음성 마이크 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6410" y="5384742"/>
            <a:ext cx="324604" cy="32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" name="직사각형 175"/>
          <p:cNvSpPr/>
          <p:nvPr/>
        </p:nvSpPr>
        <p:spPr>
          <a:xfrm>
            <a:off x="8709628" y="5828589"/>
            <a:ext cx="1415124" cy="514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300" b="1">
              <a:latin typeface="맑은 고딕" panose="020B0503020000020004" pitchFamily="50" charset="-127"/>
            </a:endParaRPr>
          </a:p>
        </p:txBody>
      </p:sp>
      <p:sp>
        <p:nvSpPr>
          <p:cNvPr id="177" name="TextBox 29">
            <a:extLst>
              <a:ext uri="{FF2B5EF4-FFF2-40B4-BE49-F238E27FC236}">
                <a16:creationId xmlns:a16="http://schemas.microsoft.com/office/drawing/2014/main" id="{58D442B5-CD30-7484-B919-13AAD904B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1014" y="5967086"/>
            <a:ext cx="991254" cy="247788"/>
          </a:xfrm>
          <a:prstGeom prst="rect">
            <a:avLst/>
          </a:prstGeom>
          <a:noFill/>
          <a:ln>
            <a:noFill/>
          </a:ln>
        </p:spPr>
        <p:txBody>
          <a:bodyPr wrap="square" lIns="77751" tIns="38876" rIns="77751" bIns="38876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 dirty="0">
                <a:latin typeface="맑은 고딕" panose="020B0503020000020004" pitchFamily="50" charset="-127"/>
              </a:rPr>
              <a:t>Ext</a:t>
            </a:r>
            <a:r>
              <a:rPr lang="en-US" altLang="en-US" sz="1100" b="1">
                <a:latin typeface="맑은 고딕" panose="020B0503020000020004" pitchFamily="50" charset="-127"/>
              </a:rPr>
              <a:t>. Speaker</a:t>
            </a:r>
            <a:endParaRPr lang="en-US" altLang="en-US" sz="1100" b="1" dirty="0">
              <a:latin typeface="맑은 고딕" panose="020B0503020000020004" pitchFamily="50" charset="-127"/>
            </a:endParaRPr>
          </a:p>
        </p:txBody>
      </p:sp>
      <p:pic>
        <p:nvPicPr>
          <p:cNvPr id="1034" name="Picture 4" descr="스피커 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22957" y="5921427"/>
            <a:ext cx="328548" cy="328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" name="TextBox 29">
            <a:extLst>
              <a:ext uri="{FF2B5EF4-FFF2-40B4-BE49-F238E27FC236}">
                <a16:creationId xmlns:a16="http://schemas.microsoft.com/office/drawing/2014/main" id="{58D442B5-CD30-7484-B919-13AAD904B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7633" y="4751455"/>
            <a:ext cx="991254" cy="247788"/>
          </a:xfrm>
          <a:prstGeom prst="rect">
            <a:avLst/>
          </a:prstGeom>
          <a:noFill/>
          <a:ln>
            <a:noFill/>
          </a:ln>
        </p:spPr>
        <p:txBody>
          <a:bodyPr wrap="square" lIns="77751" tIns="38876" rIns="77751" bIns="38876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맑은 고딕" panose="020B0503020000020004" pitchFamily="50" charset="-127"/>
              </a:rPr>
              <a:t>GPIOs</a:t>
            </a:r>
            <a:endParaRPr lang="en-US" alt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1061381" y="4756749"/>
            <a:ext cx="2139618" cy="514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300" b="1">
              <a:latin typeface="맑은 고딕" panose="020B0503020000020004" pitchFamily="50" charset="-127"/>
            </a:endParaRPr>
          </a:p>
        </p:txBody>
      </p:sp>
      <p:pic>
        <p:nvPicPr>
          <p:cNvPr id="190" name="그림 50">
            <a:extLst>
              <a:ext uri="{FF2B5EF4-FFF2-40B4-BE49-F238E27FC236}">
                <a16:creationId xmlns:a16="http://schemas.microsoft.com/office/drawing/2014/main" id="{CBB69A30-D873-D6A7-2CF0-7363F79488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279" r="36613" b="72961"/>
          <a:stretch/>
        </p:blipFill>
        <p:spPr bwMode="auto">
          <a:xfrm>
            <a:off x="1092662" y="4839393"/>
            <a:ext cx="473824" cy="34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" name="그룹 193"/>
          <p:cNvGrpSpPr/>
          <p:nvPr/>
        </p:nvGrpSpPr>
        <p:grpSpPr>
          <a:xfrm>
            <a:off x="3221207" y="4974100"/>
            <a:ext cx="1713066" cy="45728"/>
            <a:chOff x="2963325" y="6369588"/>
            <a:chExt cx="1713066" cy="45728"/>
          </a:xfrm>
        </p:grpSpPr>
        <p:cxnSp>
          <p:nvCxnSpPr>
            <p:cNvPr id="195" name="직선 화살표 연결선 194"/>
            <p:cNvCxnSpPr/>
            <p:nvPr/>
          </p:nvCxnSpPr>
          <p:spPr>
            <a:xfrm>
              <a:off x="2963325" y="6392452"/>
              <a:ext cx="1713066" cy="0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타원 195"/>
            <p:cNvSpPr/>
            <p:nvPr/>
          </p:nvSpPr>
          <p:spPr>
            <a:xfrm flipH="1">
              <a:off x="3791861" y="6369588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7" name="TextBox 29">
            <a:extLst>
              <a:ext uri="{FF2B5EF4-FFF2-40B4-BE49-F238E27FC236}">
                <a16:creationId xmlns:a16="http://schemas.microsoft.com/office/drawing/2014/main" id="{58D442B5-CD30-7484-B919-13AAD904B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8172" y="5380572"/>
            <a:ext cx="991254" cy="247788"/>
          </a:xfrm>
          <a:prstGeom prst="rect">
            <a:avLst/>
          </a:prstGeom>
          <a:noFill/>
          <a:ln>
            <a:noFill/>
          </a:ln>
        </p:spPr>
        <p:txBody>
          <a:bodyPr wrap="square" lIns="77751" tIns="38876" rIns="77751" bIns="38876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맑은 고딕" panose="020B0503020000020004" pitchFamily="50" charset="-127"/>
              </a:rPr>
              <a:t>GPIO</a:t>
            </a:r>
            <a:endParaRPr lang="en-US" alt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17" name="TextBox 29">
            <a:extLst>
              <a:ext uri="{FF2B5EF4-FFF2-40B4-BE49-F238E27FC236}">
                <a16:creationId xmlns:a16="http://schemas.microsoft.com/office/drawing/2014/main" id="{EB286095-D3EC-BBBF-B27E-0AEA109D7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292" y="5510730"/>
            <a:ext cx="113454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F/W Upgrade</a:t>
            </a:r>
          </a:p>
        </p:txBody>
      </p:sp>
      <p:sp>
        <p:nvSpPr>
          <p:cNvPr id="202" name="TextBox 58">
            <a:extLst>
              <a:ext uri="{FF2B5EF4-FFF2-40B4-BE49-F238E27FC236}">
                <a16:creationId xmlns:a16="http://schemas.microsoft.com/office/drawing/2014/main" id="{0F1CED67-3F91-B341-2291-28C403DD3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346" y="5876014"/>
            <a:ext cx="13176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맑은 고딕" panose="020B0503020000020004" pitchFamily="50" charset="-127"/>
              </a:rPr>
              <a:t>USB OTG / Host</a:t>
            </a:r>
            <a:endParaRPr lang="en-US" altLang="en-US" sz="1100" dirty="0">
              <a:latin typeface="맑은 고딕" panose="020B0503020000020004" pitchFamily="50" charset="-127"/>
            </a:endParaRPr>
          </a:p>
        </p:txBody>
      </p:sp>
      <p:grpSp>
        <p:nvGrpSpPr>
          <p:cNvPr id="203" name="그룹 202"/>
          <p:cNvGrpSpPr/>
          <p:nvPr/>
        </p:nvGrpSpPr>
        <p:grpSpPr>
          <a:xfrm>
            <a:off x="3216240" y="6121959"/>
            <a:ext cx="2303975" cy="45728"/>
            <a:chOff x="2422620" y="6369588"/>
            <a:chExt cx="2303975" cy="45728"/>
          </a:xfrm>
        </p:grpSpPr>
        <p:cxnSp>
          <p:nvCxnSpPr>
            <p:cNvPr id="204" name="직선 화살표 연결선 203"/>
            <p:cNvCxnSpPr/>
            <p:nvPr/>
          </p:nvCxnSpPr>
          <p:spPr>
            <a:xfrm>
              <a:off x="2422620" y="6392452"/>
              <a:ext cx="2303975" cy="0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타원 204"/>
            <p:cNvSpPr/>
            <p:nvPr/>
          </p:nvSpPr>
          <p:spPr>
            <a:xfrm flipH="1">
              <a:off x="3589339" y="6369588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9" name="그룹 208"/>
          <p:cNvGrpSpPr/>
          <p:nvPr/>
        </p:nvGrpSpPr>
        <p:grpSpPr>
          <a:xfrm flipH="1" flipV="1">
            <a:off x="3216240" y="5606414"/>
            <a:ext cx="2279686" cy="45719"/>
            <a:chOff x="2396255" y="6369587"/>
            <a:chExt cx="2280135" cy="45728"/>
          </a:xfrm>
        </p:grpSpPr>
        <p:cxnSp>
          <p:nvCxnSpPr>
            <p:cNvPr id="210" name="직선 화살표 연결선 209"/>
            <p:cNvCxnSpPr/>
            <p:nvPr/>
          </p:nvCxnSpPr>
          <p:spPr>
            <a:xfrm flipV="1">
              <a:off x="2396255" y="6392453"/>
              <a:ext cx="2280135" cy="0"/>
            </a:xfrm>
            <a:prstGeom prst="straightConnector1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타원 210"/>
            <p:cNvSpPr/>
            <p:nvPr/>
          </p:nvSpPr>
          <p:spPr>
            <a:xfrm flipH="1">
              <a:off x="3466357" y="6369587"/>
              <a:ext cx="45720" cy="457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6" name="TextBox 29">
            <a:extLst>
              <a:ext uri="{FF2B5EF4-FFF2-40B4-BE49-F238E27FC236}">
                <a16:creationId xmlns:a16="http://schemas.microsoft.com/office/drawing/2014/main" id="{58D442B5-CD30-7484-B919-13AAD904B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905" y="4787042"/>
            <a:ext cx="2271077" cy="417066"/>
          </a:xfrm>
          <a:prstGeom prst="rect">
            <a:avLst/>
          </a:prstGeom>
          <a:noFill/>
          <a:ln>
            <a:noFill/>
          </a:ln>
        </p:spPr>
        <p:txBody>
          <a:bodyPr wrap="square" lIns="77751" tIns="38876" rIns="77751" bIns="38876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latin typeface="맑은 고딕" panose="020B0503020000020004" pitchFamily="50" charset="-127"/>
              </a:rPr>
              <a:t>Buttons</a:t>
            </a: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latin typeface="맑은 고딕" panose="020B0503020000020004" pitchFamily="50" charset="-127"/>
              </a:rPr>
              <a:t>(Power, Func.1,Func.2)</a:t>
            </a:r>
            <a:endParaRPr lang="en-US" altLang="en-US" sz="1100" b="1" dirty="0">
              <a:latin typeface="맑은 고딕" panose="020B0503020000020004" pitchFamily="50" charset="-127"/>
            </a:endParaRPr>
          </a:p>
        </p:txBody>
      </p:sp>
      <p:sp>
        <p:nvSpPr>
          <p:cNvPr id="220" name="직사각형 219"/>
          <p:cNvSpPr/>
          <p:nvPr/>
        </p:nvSpPr>
        <p:spPr>
          <a:xfrm>
            <a:off x="2121725" y="5375098"/>
            <a:ext cx="1079274" cy="514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300" b="1">
              <a:latin typeface="맑은 고딕" panose="020B0503020000020004" pitchFamily="50" charset="-127"/>
            </a:endParaRPr>
          </a:p>
        </p:txBody>
      </p:sp>
      <p:sp>
        <p:nvSpPr>
          <p:cNvPr id="222" name="TextBox 29">
            <a:extLst>
              <a:ext uri="{FF2B5EF4-FFF2-40B4-BE49-F238E27FC236}">
                <a16:creationId xmlns:a16="http://schemas.microsoft.com/office/drawing/2014/main" id="{58D442B5-CD30-7484-B919-13AAD904B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2775" y="5512339"/>
            <a:ext cx="410638" cy="247788"/>
          </a:xfrm>
          <a:prstGeom prst="rect">
            <a:avLst/>
          </a:prstGeom>
          <a:noFill/>
          <a:ln>
            <a:noFill/>
          </a:ln>
        </p:spPr>
        <p:txBody>
          <a:bodyPr wrap="square" lIns="77751" tIns="38876" rIns="77751" bIns="38876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latin typeface="맑은 고딕" panose="020B0503020000020004" pitchFamily="50" charset="-127"/>
              </a:rPr>
              <a:t>LED</a:t>
            </a:r>
            <a:endParaRPr lang="en-US" altLang="en-US" sz="1100" b="1" dirty="0">
              <a:latin typeface="맑은 고딕" panose="020B0503020000020004" pitchFamily="50" charset="-127"/>
            </a:endParaRPr>
          </a:p>
        </p:txBody>
      </p:sp>
      <p:pic>
        <p:nvPicPr>
          <p:cNvPr id="1044" name="Picture 10" descr="led 조명 램프 "/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87024" y="5453421"/>
            <a:ext cx="396464" cy="39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6" name="직사각형 225"/>
          <p:cNvSpPr/>
          <p:nvPr/>
        </p:nvSpPr>
        <p:spPr>
          <a:xfrm>
            <a:off x="1296257" y="5946051"/>
            <a:ext cx="1904742" cy="514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300" b="1">
              <a:latin typeface="맑은 고딕" panose="020B0503020000020004" pitchFamily="50" charset="-127"/>
            </a:endParaRPr>
          </a:p>
        </p:txBody>
      </p:sp>
      <p:sp>
        <p:nvSpPr>
          <p:cNvPr id="224" name="TextBox 29">
            <a:extLst>
              <a:ext uri="{FF2B5EF4-FFF2-40B4-BE49-F238E27FC236}">
                <a16:creationId xmlns:a16="http://schemas.microsoft.com/office/drawing/2014/main" id="{58D442B5-CD30-7484-B919-13AAD904B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366" y="6066700"/>
            <a:ext cx="1544243" cy="247788"/>
          </a:xfrm>
          <a:prstGeom prst="rect">
            <a:avLst/>
          </a:prstGeom>
          <a:noFill/>
          <a:ln>
            <a:noFill/>
          </a:ln>
        </p:spPr>
        <p:txBody>
          <a:bodyPr wrap="square" lIns="77751" tIns="38876" rIns="77751" bIns="38876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latin typeface="맑은 고딕" panose="020B0503020000020004" pitchFamily="50" charset="-127"/>
              </a:rPr>
              <a:t>USB (Micro-C)</a:t>
            </a:r>
            <a:endParaRPr lang="en-US" altLang="en-US" sz="1100" b="1" dirty="0">
              <a:latin typeface="맑은 고딕" panose="020B0503020000020004" pitchFamily="50" charset="-127"/>
            </a:endParaRPr>
          </a:p>
        </p:txBody>
      </p:sp>
      <p:pic>
        <p:nvPicPr>
          <p:cNvPr id="56" name="그림 50">
            <a:extLst>
              <a:ext uri="{FF2B5EF4-FFF2-40B4-BE49-F238E27FC236}">
                <a16:creationId xmlns:a16="http://schemas.microsoft.com/office/drawing/2014/main" id="{CBB69A30-D873-D6A7-2CF0-7363F79488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79" t="52325" r="72038" b="20494"/>
          <a:stretch/>
        </p:blipFill>
        <p:spPr bwMode="auto">
          <a:xfrm>
            <a:off x="1363774" y="6015262"/>
            <a:ext cx="639324" cy="3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8" name="TextBox 227">
            <a:extLst>
              <a:ext uri="{FF2B5EF4-FFF2-40B4-BE49-F238E27FC236}">
                <a16:creationId xmlns:a16="http://schemas.microsoft.com/office/drawing/2014/main" id="{7A26F470-62DA-4782-BCD4-A08EB00DC56D}"/>
              </a:ext>
            </a:extLst>
          </p:cNvPr>
          <p:cNvSpPr txBox="1"/>
          <p:nvPr/>
        </p:nvSpPr>
        <p:spPr>
          <a:xfrm>
            <a:off x="751426" y="249113"/>
            <a:ext cx="666849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과제개요</a:t>
            </a:r>
            <a:endParaRPr lang="en-US" altLang="ko-KR" sz="13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89745C76-4868-44E6-AC2A-86FE8E798022}"/>
              </a:ext>
            </a:extLst>
          </p:cNvPr>
          <p:cNvSpPr txBox="1"/>
          <p:nvPr/>
        </p:nvSpPr>
        <p:spPr>
          <a:xfrm>
            <a:off x="751425" y="465285"/>
            <a:ext cx="996748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317"/>
              </a:spcBef>
            </a:pPr>
            <a:r>
              <a:rPr lang="en-US" altLang="ko-KR" sz="1100" spc="-79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H/W </a:t>
            </a:r>
            <a:r>
              <a:rPr lang="ko-KR" altLang="en-US" sz="1100" spc="-79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구성</a:t>
            </a:r>
            <a:endParaRPr lang="nn-NO" altLang="ko-KR" sz="1100" spc="-79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526703-CFAB-4E13-BD9F-1F9077DF0C99}"/>
              </a:ext>
            </a:extLst>
          </p:cNvPr>
          <p:cNvSpPr txBox="1"/>
          <p:nvPr/>
        </p:nvSpPr>
        <p:spPr>
          <a:xfrm>
            <a:off x="418804" y="230860"/>
            <a:ext cx="2276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rPr>
              <a:t>01</a:t>
            </a:r>
          </a:p>
        </p:txBody>
      </p:sp>
      <p:sp>
        <p:nvSpPr>
          <p:cNvPr id="231" name="TextBox 14">
            <a:extLst>
              <a:ext uri="{FF2B5EF4-FFF2-40B4-BE49-F238E27FC236}">
                <a16:creationId xmlns:a16="http://schemas.microsoft.com/office/drawing/2014/main" id="{1D787A7E-DF8D-561D-0795-861C7190A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569" y="2176817"/>
            <a:ext cx="1196834" cy="24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751" tIns="38876" rIns="77751" bIns="38876">
            <a:spAutoFit/>
          </a:bodyPr>
          <a:lstStyle>
            <a:lvl1pPr latinLnBrk="1">
              <a:spcBef>
                <a:spcPct val="20000"/>
              </a:spcBef>
              <a:buClr>
                <a:srgbClr val="FE8C2E"/>
              </a:buClr>
              <a:buSzPct val="85000"/>
              <a:buFont typeface="Wingdings" panose="05000000000000000000" pitchFamily="2" charset="2"/>
              <a:buChar char="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4CD416"/>
              </a:buClr>
              <a:buSzPct val="85000"/>
              <a:buFont typeface="Wingdings" panose="05000000000000000000" pitchFamily="2" charset="2"/>
              <a:buChar char="¤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33BDFB"/>
              </a:buClr>
              <a:buSzPct val="85000"/>
              <a:buFont typeface="Wingdings" panose="05000000000000000000" pitchFamily="2" charset="2"/>
              <a:buChar char="¤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489FF"/>
              </a:buClr>
              <a:buSzPct val="85000"/>
              <a:buFont typeface="Wingdings" panose="05000000000000000000" pitchFamily="2" charset="2"/>
              <a:buChar char="¤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>
                <a:solidFill>
                  <a:srgbClr val="333333"/>
                </a:solidFill>
                <a:latin typeface="맑은 고딕" panose="020B0503020000020004" pitchFamily="50" charset="-127"/>
              </a:rPr>
              <a:t>RJ45</a:t>
            </a:r>
            <a:endParaRPr lang="en-US" altLang="en-US" sz="1050" dirty="0">
              <a:solidFill>
                <a:srgbClr val="FFFF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163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5EBC-9A6E-2BF3-11AD-A74B9793E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1FB8CAA-29BE-D62D-D3B5-A4AFBC76A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032181"/>
              </p:ext>
            </p:extLst>
          </p:nvPr>
        </p:nvGraphicFramePr>
        <p:xfrm>
          <a:off x="327688" y="1347104"/>
          <a:ext cx="11519778" cy="4709788"/>
        </p:xfrm>
        <a:graphic>
          <a:graphicData uri="http://schemas.openxmlformats.org/drawingml/2006/table">
            <a:tbl>
              <a:tblPr/>
              <a:tblGrid>
                <a:gridCol w="590067">
                  <a:extLst>
                    <a:ext uri="{9D8B030D-6E8A-4147-A177-3AD203B41FA5}">
                      <a16:colId xmlns:a16="http://schemas.microsoft.com/office/drawing/2014/main" val="1715248904"/>
                    </a:ext>
                  </a:extLst>
                </a:gridCol>
                <a:gridCol w="2264603">
                  <a:extLst>
                    <a:ext uri="{9D8B030D-6E8A-4147-A177-3AD203B41FA5}">
                      <a16:colId xmlns:a16="http://schemas.microsoft.com/office/drawing/2014/main" val="2618011542"/>
                    </a:ext>
                  </a:extLst>
                </a:gridCol>
                <a:gridCol w="8665108">
                  <a:extLst>
                    <a:ext uri="{9D8B030D-6E8A-4147-A177-3AD203B41FA5}">
                      <a16:colId xmlns:a16="http://schemas.microsoft.com/office/drawing/2014/main" val="1346546916"/>
                    </a:ext>
                  </a:extLst>
                </a:gridCol>
              </a:tblGrid>
              <a:tr h="291196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NO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구 분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세 부 내 용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034177"/>
                  </a:ext>
                </a:extLst>
              </a:tr>
              <a:tr h="315745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1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CPU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RK3568J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68537"/>
                  </a:ext>
                </a:extLst>
              </a:tr>
              <a:tr h="315745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2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Memory 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16GB eMMC(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PTE7AYJ-32GE)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+ 2GB DDR4(H5ANAG6NCJR)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450593"/>
                  </a:ext>
                </a:extLst>
              </a:tr>
              <a:tr h="525629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3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LCD w/ Touch (for Embedded)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MIPI DSI I/F, 1.7IPS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Color LCD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GUI Display, Capacitive Touch : I2c interface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929539"/>
                  </a:ext>
                </a:extLst>
              </a:tr>
              <a:tr h="315745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4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NFC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13.56MHz Mifare Classic, ISO 14443 Type A,B 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439868"/>
                  </a:ext>
                </a:extLst>
              </a:tr>
              <a:tr h="315745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5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BT BLE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Wifi+BLE5.0 combo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380319"/>
                  </a:ext>
                </a:extLst>
              </a:tr>
              <a:tr h="315745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6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Camera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2x Mobile Image Sensor, MIPI-CSI Connection Host Interface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144723"/>
                  </a:ext>
                </a:extLst>
              </a:tr>
              <a:tr h="315745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7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Ethernet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10/100/1000 Mbps PHY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chip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&amp;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Transformer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908397"/>
                  </a:ext>
                </a:extLst>
              </a:tr>
              <a:tr h="315745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8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S1-RS422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 Driver, Simple Test application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785383"/>
                  </a:ext>
                </a:extLst>
              </a:tr>
              <a:tr h="315745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9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USB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USB OTG, USB Host , Type C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043685"/>
                  </a:ext>
                </a:extLst>
              </a:tr>
              <a:tr h="315745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10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MIC &amp; 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Speaker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External Interface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910097"/>
                  </a:ext>
                </a:extLst>
              </a:tr>
              <a:tr h="525629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11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Power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PMIC : </a:t>
                      </a:r>
                      <a:r>
                        <a:rPr lang="pt-BR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RK808-B)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PMU : External Power Management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341093"/>
                  </a:ext>
                </a:extLst>
              </a:tr>
              <a:tr h="525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12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Etc.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Certification(CE, FCC, KC…)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847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26F470-62DA-4782-BCD4-A08EB00DC56D}"/>
              </a:ext>
            </a:extLst>
          </p:cNvPr>
          <p:cNvSpPr txBox="1"/>
          <p:nvPr/>
        </p:nvSpPr>
        <p:spPr>
          <a:xfrm>
            <a:off x="751426" y="249113"/>
            <a:ext cx="666849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과제개요</a:t>
            </a:r>
            <a:endParaRPr lang="en-US" altLang="ko-KR" sz="13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45C76-4868-44E6-AC2A-86FE8E798022}"/>
              </a:ext>
            </a:extLst>
          </p:cNvPr>
          <p:cNvSpPr txBox="1"/>
          <p:nvPr/>
        </p:nvSpPr>
        <p:spPr>
          <a:xfrm>
            <a:off x="4915685" y="302864"/>
            <a:ext cx="239347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317"/>
              </a:spcBef>
            </a:pPr>
            <a:r>
              <a:rPr lang="ko-KR" altLang="en-US" sz="2800" b="1" spc="-79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</a:t>
            </a:r>
            <a:r>
              <a:rPr lang="en-US" altLang="ko-KR" sz="2800" b="1" spc="-79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H/W </a:t>
            </a:r>
            <a:r>
              <a:rPr lang="ko-KR" altLang="en-US" sz="2800" b="1" spc="-79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사양</a:t>
            </a:r>
            <a:endParaRPr lang="nn-NO" altLang="ko-KR" sz="2800" b="1" spc="-79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26703-CFAB-4E13-BD9F-1F9077DF0C99}"/>
              </a:ext>
            </a:extLst>
          </p:cNvPr>
          <p:cNvSpPr txBox="1"/>
          <p:nvPr/>
        </p:nvSpPr>
        <p:spPr>
          <a:xfrm>
            <a:off x="418803" y="230860"/>
            <a:ext cx="2276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9583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REF\background,image\CK_cb0460056669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50" b="30205"/>
          <a:stretch/>
        </p:blipFill>
        <p:spPr bwMode="auto">
          <a:xfrm>
            <a:off x="-1" y="1240"/>
            <a:ext cx="12190413" cy="289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A26F470-62DA-4782-BCD4-A08EB00DC56D}"/>
              </a:ext>
            </a:extLst>
          </p:cNvPr>
          <p:cNvSpPr txBox="1"/>
          <p:nvPr/>
        </p:nvSpPr>
        <p:spPr>
          <a:xfrm>
            <a:off x="5778439" y="3152419"/>
            <a:ext cx="1917192" cy="5744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3733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개발내용</a:t>
            </a:r>
            <a:endParaRPr lang="en-US" altLang="ko-KR" sz="3733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526703-CFAB-4E13-BD9F-1F9077DF0C99}"/>
              </a:ext>
            </a:extLst>
          </p:cNvPr>
          <p:cNvSpPr txBox="1"/>
          <p:nvPr/>
        </p:nvSpPr>
        <p:spPr>
          <a:xfrm>
            <a:off x="4830468" y="3104116"/>
            <a:ext cx="634790" cy="6564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4266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itchFamily="50" charset="-127"/>
              </a:rPr>
              <a:t>02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5603901" y="3226621"/>
            <a:ext cx="0" cy="406347"/>
          </a:xfrm>
          <a:prstGeom prst="line">
            <a:avLst/>
          </a:prstGeom>
          <a:ln w="12700">
            <a:solidFill>
              <a:srgbClr val="2E71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918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7AED3-EF9C-1C70-1972-89B43DD84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31F159F-BD69-201A-70D4-5429EF93D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201633"/>
              </p:ext>
            </p:extLst>
          </p:nvPr>
        </p:nvGraphicFramePr>
        <p:xfrm>
          <a:off x="327687" y="1347103"/>
          <a:ext cx="11519780" cy="4885696"/>
        </p:xfrm>
        <a:graphic>
          <a:graphicData uri="http://schemas.openxmlformats.org/drawingml/2006/table">
            <a:tbl>
              <a:tblPr/>
              <a:tblGrid>
                <a:gridCol w="542902">
                  <a:extLst>
                    <a:ext uri="{9D8B030D-6E8A-4147-A177-3AD203B41FA5}">
                      <a16:colId xmlns:a16="http://schemas.microsoft.com/office/drawing/2014/main" val="1715248904"/>
                    </a:ext>
                  </a:extLst>
                </a:gridCol>
                <a:gridCol w="2657238">
                  <a:extLst>
                    <a:ext uri="{9D8B030D-6E8A-4147-A177-3AD203B41FA5}">
                      <a16:colId xmlns:a16="http://schemas.microsoft.com/office/drawing/2014/main" val="2618011542"/>
                    </a:ext>
                  </a:extLst>
                </a:gridCol>
                <a:gridCol w="8319640">
                  <a:extLst>
                    <a:ext uri="{9D8B030D-6E8A-4147-A177-3AD203B41FA5}">
                      <a16:colId xmlns:a16="http://schemas.microsoft.com/office/drawing/2014/main" val="1346546916"/>
                    </a:ext>
                  </a:extLst>
                </a:gridCol>
              </a:tblGrid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NO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구 분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세 부 내 용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034177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1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CPU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Power Management * Clock Distribution * External PMIC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방열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임피던스 매칭 고려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68537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2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16GB Flash( Nand or eMMC)  + 2GB DDR4(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방열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임피던스 매칭 고려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450593"/>
                  </a:ext>
                </a:extLst>
              </a:tr>
              <a:tr h="462819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3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LCD w/ Touch (for Embedded)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MIPI DSI I/F, 800*1200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픽셀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2.4” IPS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Color LCD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GUI Display, Capacitive Touch : I2c interface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929539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4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NFC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13.56MHz Mifare Classic, ISO 14443 Type A,B – NXP chip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검토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표준 및 미니카드 대응설계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439868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5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 BLE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BLE5.0 over : BT(UART), Internal Antenna (BT BLE )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380319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6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Camera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2x Mobile Image Sensor, MIPI-CSI Connection Host Interface : I2C, IR LED 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144723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7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Ethernet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10/100/1000 Mbps PHY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chip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&amp;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Transformer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908397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8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RS422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 Driver, Simple Test application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785383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9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USB OTG, USB Host , Type C(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고속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impedance matching artwork design)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043685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10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Audio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Mono sound codec, A low noise input buffer, and an output amplifier.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728803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11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Buttons I/O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Power On/Off Button 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기타 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Function Buttons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947413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12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 LEDs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IR LED and Status LED –?LEDs(Power LED)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242306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13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 &amp; 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Speaker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EXT.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기구 조립성 및 음질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하울링 문제점 고려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)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910097"/>
                  </a:ext>
                </a:extLst>
              </a:tr>
              <a:tr h="462819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14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PMIC: 12V input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PMIC : External Power Management, Default Power Outputs</a:t>
                      </a: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341093"/>
                  </a:ext>
                </a:extLst>
              </a:tr>
              <a:tr h="278017"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15</a:t>
                      </a:r>
                    </a:p>
                  </a:txBody>
                  <a:tcPr marL="87068" marR="87068" marT="32663" marB="32663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algn="ctr"/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Operating Temperature</a:t>
                      </a:r>
                      <a:endParaRPr lang="en-US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hlinkClick r:id="rId2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FE8C2E"/>
                        </a:buClr>
                        <a:buSzPct val="8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4CD416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33BDFB"/>
                        </a:buClr>
                        <a:buSzPct val="8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defTabSz="1280160" rtl="0" eaLnBrk="1" latinLnBrk="1" hangingPunct="1">
                        <a:spcBef>
                          <a:spcPct val="20000"/>
                        </a:spcBef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defTabSz="128016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489FF"/>
                        </a:buClr>
                        <a:buSzPct val="85000"/>
                        <a:buFont typeface="Wingdings" panose="05000000000000000000" pitchFamily="2" charset="2"/>
                        <a:defRPr sz="252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-20°C ~ 50°C,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0%~80%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부품 선정 중요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!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068" marR="87068" marT="32663" marB="3266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8826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26F470-62DA-4782-BCD4-A08EB00DC56D}"/>
              </a:ext>
            </a:extLst>
          </p:cNvPr>
          <p:cNvSpPr txBox="1"/>
          <p:nvPr/>
        </p:nvSpPr>
        <p:spPr>
          <a:xfrm>
            <a:off x="751426" y="249113"/>
            <a:ext cx="666849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개발내용</a:t>
            </a:r>
            <a:endParaRPr lang="en-US" altLang="ko-KR" sz="13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45C76-4868-44E6-AC2A-86FE8E798022}"/>
              </a:ext>
            </a:extLst>
          </p:cNvPr>
          <p:cNvSpPr txBox="1"/>
          <p:nvPr/>
        </p:nvSpPr>
        <p:spPr>
          <a:xfrm>
            <a:off x="4470809" y="230860"/>
            <a:ext cx="274934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317"/>
              </a:spcBef>
            </a:pPr>
            <a:r>
              <a:rPr lang="en-US" altLang="ko-KR" sz="3200" b="1" spc="-79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H/W </a:t>
            </a:r>
            <a:r>
              <a:rPr lang="ko-KR" altLang="en-US" sz="3200" b="1" spc="-79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내용</a:t>
            </a:r>
            <a:endParaRPr lang="nn-NO" altLang="ko-KR" sz="3200" b="1" spc="-79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26703-CFAB-4E13-BD9F-1F9077DF0C99}"/>
              </a:ext>
            </a:extLst>
          </p:cNvPr>
          <p:cNvSpPr txBox="1"/>
          <p:nvPr/>
        </p:nvSpPr>
        <p:spPr>
          <a:xfrm>
            <a:off x="418803" y="230860"/>
            <a:ext cx="2276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578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7ED2E5DA-9612-8704-6583-A8A519C19FA1}"/>
              </a:ext>
            </a:extLst>
          </p:cNvPr>
          <p:cNvSpPr/>
          <p:nvPr/>
        </p:nvSpPr>
        <p:spPr>
          <a:xfrm>
            <a:off x="1191552" y="4666719"/>
            <a:ext cx="9845773" cy="705575"/>
          </a:xfrm>
          <a:prstGeom prst="roundRect">
            <a:avLst>
              <a:gd name="adj" fmla="val 0"/>
            </a:avLst>
          </a:prstGeom>
          <a:solidFill>
            <a:srgbClr val="2A48A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611" tIns="30611" rIns="30611" bIns="30611" rtlCol="0" anchor="ctr"/>
          <a:lstStyle/>
          <a:p>
            <a:pPr marL="291568" indent="-291568" algn="ctr"/>
            <a:r>
              <a:rPr lang="en-US" altLang="ko-KR" sz="1700" b="1" dirty="0" err="1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Rockchip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</a:t>
            </a:r>
            <a:r>
              <a:rPr lang="en-US" altLang="ko-KR" sz="17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K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3568J BSP – Bootloader/Linux Kernel</a:t>
            </a:r>
          </a:p>
        </p:txBody>
      </p:sp>
      <p:sp>
        <p:nvSpPr>
          <p:cNvPr id="6" name="모서리가 둥근 직사각형 4">
            <a:extLst>
              <a:ext uri="{FF2B5EF4-FFF2-40B4-BE49-F238E27FC236}">
                <a16:creationId xmlns:a16="http://schemas.microsoft.com/office/drawing/2014/main" id="{A834610F-DE03-BD67-D1EF-94550870E37D}"/>
              </a:ext>
            </a:extLst>
          </p:cNvPr>
          <p:cNvSpPr/>
          <p:nvPr/>
        </p:nvSpPr>
        <p:spPr>
          <a:xfrm>
            <a:off x="1170151" y="4068994"/>
            <a:ext cx="9867174" cy="4074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611" tIns="30611" rIns="30611" bIns="30611" rtlCol="0" anchor="t"/>
          <a:lstStyle/>
          <a:p>
            <a:pPr marL="291568" indent="-291568" algn="ctr">
              <a:lnSpc>
                <a:spcPct val="150000"/>
              </a:lnSpc>
            </a:pPr>
            <a:r>
              <a:rPr lang="en-US" altLang="ko-KR" sz="13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Device Drivers- </a:t>
            </a:r>
            <a:r>
              <a:rPr lang="en-US" altLang="ko-KR" sz="1300" dirty="0" err="1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MIPI-CSI&amp;eDP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/UART/RS422/SPI/I2C/GPIO/USB</a:t>
            </a:r>
          </a:p>
        </p:txBody>
      </p:sp>
      <p:sp>
        <p:nvSpPr>
          <p:cNvPr id="16" name="모서리가 둥근 직사각형 5">
            <a:extLst>
              <a:ext uri="{FF2B5EF4-FFF2-40B4-BE49-F238E27FC236}">
                <a16:creationId xmlns:a16="http://schemas.microsoft.com/office/drawing/2014/main" id="{2B0129C0-9B32-B870-873F-61239F5F2C31}"/>
              </a:ext>
            </a:extLst>
          </p:cNvPr>
          <p:cNvSpPr/>
          <p:nvPr/>
        </p:nvSpPr>
        <p:spPr>
          <a:xfrm>
            <a:off x="1163228" y="2691190"/>
            <a:ext cx="2344330" cy="624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611" tIns="30611" rIns="30611" bIns="30611" rtlCol="0" anchor="ctr"/>
          <a:lstStyle/>
          <a:p>
            <a:pPr marL="291568" indent="-291568" algn="ctr"/>
            <a:r>
              <a:rPr lang="en-US" altLang="ko-KR" sz="13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2xMIPI CSI</a:t>
            </a:r>
            <a:r>
              <a:rPr lang="ko-KR" altLang="en-US" sz="130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Camera</a:t>
            </a:r>
          </a:p>
        </p:txBody>
      </p:sp>
      <p:sp>
        <p:nvSpPr>
          <p:cNvPr id="19" name="모서리가 둥근 직사각형 8">
            <a:extLst>
              <a:ext uri="{FF2B5EF4-FFF2-40B4-BE49-F238E27FC236}">
                <a16:creationId xmlns:a16="http://schemas.microsoft.com/office/drawing/2014/main" id="{AC3FF6F6-8663-8815-4740-F4113A80E00D}"/>
              </a:ext>
            </a:extLst>
          </p:cNvPr>
          <p:cNvSpPr/>
          <p:nvPr/>
        </p:nvSpPr>
        <p:spPr>
          <a:xfrm>
            <a:off x="1163229" y="1724203"/>
            <a:ext cx="9874096" cy="677667"/>
          </a:xfrm>
          <a:prstGeom prst="roundRect">
            <a:avLst>
              <a:gd name="adj" fmla="val 0"/>
            </a:avLst>
          </a:prstGeom>
          <a:solidFill>
            <a:srgbClr val="2E71EA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611" tIns="30611" rIns="30611" bIns="30611" rtlCol="0" anchor="ctr"/>
          <a:lstStyle/>
          <a:p>
            <a:pPr marL="291568" indent="-291568" algn="ctr"/>
            <a:r>
              <a:rPr lang="en-US" altLang="ko-KR" sz="17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UI/UX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S/W(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서비스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S/W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포함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26F470-62DA-4782-BCD4-A08EB00DC56D}"/>
              </a:ext>
            </a:extLst>
          </p:cNvPr>
          <p:cNvSpPr txBox="1"/>
          <p:nvPr/>
        </p:nvSpPr>
        <p:spPr>
          <a:xfrm>
            <a:off x="751426" y="249113"/>
            <a:ext cx="666849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개발내용</a:t>
            </a:r>
            <a:endParaRPr lang="en-US" altLang="ko-KR" sz="13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745C76-4868-44E6-AC2A-86FE8E798022}"/>
              </a:ext>
            </a:extLst>
          </p:cNvPr>
          <p:cNvSpPr txBox="1"/>
          <p:nvPr/>
        </p:nvSpPr>
        <p:spPr>
          <a:xfrm>
            <a:off x="4504382" y="250363"/>
            <a:ext cx="306622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317"/>
              </a:spcBef>
            </a:pPr>
            <a:r>
              <a:rPr lang="en-US" altLang="ko-KR" sz="3200" b="1" spc="-79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S/W </a:t>
            </a:r>
            <a:r>
              <a:rPr lang="ko-KR" altLang="en-US" sz="3200" b="1" spc="-79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구성</a:t>
            </a:r>
            <a:endParaRPr lang="nn-NO" altLang="ko-KR" sz="3200" b="1" spc="-79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526703-CFAB-4E13-BD9F-1F9077DF0C99}"/>
              </a:ext>
            </a:extLst>
          </p:cNvPr>
          <p:cNvSpPr txBox="1"/>
          <p:nvPr/>
        </p:nvSpPr>
        <p:spPr>
          <a:xfrm>
            <a:off x="418803" y="230860"/>
            <a:ext cx="2276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rPr>
              <a:t>02</a:t>
            </a:r>
          </a:p>
        </p:txBody>
      </p:sp>
      <p:sp>
        <p:nvSpPr>
          <p:cNvPr id="40" name="모서리가 둥근 직사각형 5">
            <a:extLst>
              <a:ext uri="{FF2B5EF4-FFF2-40B4-BE49-F238E27FC236}">
                <a16:creationId xmlns:a16="http://schemas.microsoft.com/office/drawing/2014/main" id="{2B0129C0-9B32-B870-873F-61239F5F2C31}"/>
              </a:ext>
            </a:extLst>
          </p:cNvPr>
          <p:cNvSpPr/>
          <p:nvPr/>
        </p:nvSpPr>
        <p:spPr>
          <a:xfrm>
            <a:off x="3667516" y="2691190"/>
            <a:ext cx="2344330" cy="624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611" tIns="30611" rIns="30611" bIns="30611" rtlCol="0" anchor="ctr"/>
          <a:lstStyle/>
          <a:p>
            <a:pPr marL="291568" indent="-291568" algn="ctr"/>
            <a:r>
              <a:rPr lang="en-US" altLang="ko-KR" sz="130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LCD/Touch</a:t>
            </a:r>
            <a:endParaRPr lang="en-US" altLang="ko-KR" sz="13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1" name="모서리가 둥근 직사각형 5">
            <a:extLst>
              <a:ext uri="{FF2B5EF4-FFF2-40B4-BE49-F238E27FC236}">
                <a16:creationId xmlns:a16="http://schemas.microsoft.com/office/drawing/2014/main" id="{2B0129C0-9B32-B870-873F-61239F5F2C31}"/>
              </a:ext>
            </a:extLst>
          </p:cNvPr>
          <p:cNvSpPr/>
          <p:nvPr/>
        </p:nvSpPr>
        <p:spPr>
          <a:xfrm>
            <a:off x="6171804" y="2691190"/>
            <a:ext cx="2344330" cy="624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611" tIns="30611" rIns="30611" bIns="30611" rtlCol="0" anchor="ctr"/>
          <a:lstStyle/>
          <a:p>
            <a:pPr marL="291568" indent="-291568" algn="ctr"/>
            <a:r>
              <a:rPr lang="en-US" altLang="ko-KR" sz="130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Ethernet</a:t>
            </a:r>
            <a:endParaRPr lang="en-US" altLang="ko-KR" sz="13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2" name="모서리가 둥근 직사각형 5">
            <a:extLst>
              <a:ext uri="{FF2B5EF4-FFF2-40B4-BE49-F238E27FC236}">
                <a16:creationId xmlns:a16="http://schemas.microsoft.com/office/drawing/2014/main" id="{2B0129C0-9B32-B870-873F-61239F5F2C31}"/>
              </a:ext>
            </a:extLst>
          </p:cNvPr>
          <p:cNvSpPr/>
          <p:nvPr/>
        </p:nvSpPr>
        <p:spPr>
          <a:xfrm>
            <a:off x="8676092" y="2691190"/>
            <a:ext cx="2344330" cy="624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611" tIns="30611" rIns="30611" bIns="30611" rtlCol="0" anchor="ctr"/>
          <a:lstStyle/>
          <a:p>
            <a:pPr marL="291568" indent="-291568" algn="ctr"/>
            <a:r>
              <a:rPr lang="en-US" altLang="ko-KR" sz="130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BLE</a:t>
            </a:r>
            <a:endParaRPr lang="en-US" altLang="ko-KR" sz="13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3" name="모서리가 둥근 직사각형 5">
            <a:extLst>
              <a:ext uri="{FF2B5EF4-FFF2-40B4-BE49-F238E27FC236}">
                <a16:creationId xmlns:a16="http://schemas.microsoft.com/office/drawing/2014/main" id="{2B0129C0-9B32-B870-873F-61239F5F2C31}"/>
              </a:ext>
            </a:extLst>
          </p:cNvPr>
          <p:cNvSpPr/>
          <p:nvPr/>
        </p:nvSpPr>
        <p:spPr>
          <a:xfrm>
            <a:off x="1163228" y="3383267"/>
            <a:ext cx="2344330" cy="624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611" tIns="30611" rIns="30611" bIns="30611" rtlCol="0" anchor="ctr"/>
          <a:lstStyle/>
          <a:p>
            <a:pPr marL="291568" indent="-291568" algn="ctr"/>
            <a:r>
              <a:rPr lang="en-US" altLang="ko-KR" sz="130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Audio(Speaker/MIC) </a:t>
            </a:r>
            <a:endParaRPr lang="en-US" altLang="ko-KR" sz="13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4" name="모서리가 둥근 직사각형 5">
            <a:extLst>
              <a:ext uri="{FF2B5EF4-FFF2-40B4-BE49-F238E27FC236}">
                <a16:creationId xmlns:a16="http://schemas.microsoft.com/office/drawing/2014/main" id="{2B0129C0-9B32-B870-873F-61239F5F2C31}"/>
              </a:ext>
            </a:extLst>
          </p:cNvPr>
          <p:cNvSpPr/>
          <p:nvPr/>
        </p:nvSpPr>
        <p:spPr>
          <a:xfrm>
            <a:off x="3667516" y="3383267"/>
            <a:ext cx="2344330" cy="624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611" tIns="30611" rIns="30611" bIns="30611" rtlCol="0" anchor="ctr"/>
          <a:lstStyle/>
          <a:p>
            <a:pPr marL="291568" indent="-291568" algn="ctr"/>
            <a:r>
              <a:rPr lang="en-US" altLang="ko-KR" sz="130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NFC</a:t>
            </a:r>
            <a:endParaRPr lang="en-US" altLang="ko-KR" sz="13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5" name="모서리가 둥근 직사각형 5">
            <a:extLst>
              <a:ext uri="{FF2B5EF4-FFF2-40B4-BE49-F238E27FC236}">
                <a16:creationId xmlns:a16="http://schemas.microsoft.com/office/drawing/2014/main" id="{2B0129C0-9B32-B870-873F-61239F5F2C31}"/>
              </a:ext>
            </a:extLst>
          </p:cNvPr>
          <p:cNvSpPr/>
          <p:nvPr/>
        </p:nvSpPr>
        <p:spPr>
          <a:xfrm>
            <a:off x="6171804" y="3383267"/>
            <a:ext cx="2344330" cy="624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611" tIns="30611" rIns="30611" bIns="30611" rtlCol="0" anchor="ctr"/>
          <a:lstStyle/>
          <a:p>
            <a:pPr marL="291568" indent="-291568" algn="ctr"/>
            <a:r>
              <a:rPr lang="en-US" altLang="ko-KR" sz="130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IR</a:t>
            </a:r>
            <a:r>
              <a:rPr lang="ko-KR" altLang="en-US" sz="130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30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LED</a:t>
            </a:r>
            <a:endParaRPr lang="en-US" altLang="ko-KR" sz="13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6" name="모서리가 둥근 직사각형 5">
            <a:extLst>
              <a:ext uri="{FF2B5EF4-FFF2-40B4-BE49-F238E27FC236}">
                <a16:creationId xmlns:a16="http://schemas.microsoft.com/office/drawing/2014/main" id="{2B0129C0-9B32-B870-873F-61239F5F2C31}"/>
              </a:ext>
            </a:extLst>
          </p:cNvPr>
          <p:cNvSpPr/>
          <p:nvPr/>
        </p:nvSpPr>
        <p:spPr>
          <a:xfrm>
            <a:off x="8676092" y="3383267"/>
            <a:ext cx="2344330" cy="624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611" tIns="30611" rIns="30611" bIns="30611" rtlCol="0" anchor="ctr"/>
          <a:lstStyle/>
          <a:p>
            <a:pPr marL="291568" indent="-291568" algn="ctr"/>
            <a:r>
              <a:rPr lang="en-US" altLang="ko-KR" sz="130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Sensors</a:t>
            </a:r>
            <a:endParaRPr lang="en-US" altLang="ko-KR" sz="13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33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BF105C5-09BE-2409-D55B-2EC02B8C0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391685"/>
              </p:ext>
            </p:extLst>
          </p:nvPr>
        </p:nvGraphicFramePr>
        <p:xfrm>
          <a:off x="327687" y="1347103"/>
          <a:ext cx="11519780" cy="4498352"/>
        </p:xfrm>
        <a:graphic>
          <a:graphicData uri="http://schemas.openxmlformats.org/drawingml/2006/table">
            <a:tbl>
              <a:tblPr firstRow="1" bandRow="1"/>
              <a:tblGrid>
                <a:gridCol w="585340">
                  <a:extLst>
                    <a:ext uri="{9D8B030D-6E8A-4147-A177-3AD203B41FA5}">
                      <a16:colId xmlns:a16="http://schemas.microsoft.com/office/drawing/2014/main" val="1540706734"/>
                    </a:ext>
                  </a:extLst>
                </a:gridCol>
                <a:gridCol w="3117848">
                  <a:extLst>
                    <a:ext uri="{9D8B030D-6E8A-4147-A177-3AD203B41FA5}">
                      <a16:colId xmlns:a16="http://schemas.microsoft.com/office/drawing/2014/main" val="3393624408"/>
                    </a:ext>
                  </a:extLst>
                </a:gridCol>
                <a:gridCol w="7816592">
                  <a:extLst>
                    <a:ext uri="{9D8B030D-6E8A-4147-A177-3AD203B41FA5}">
                      <a16:colId xmlns:a16="http://schemas.microsoft.com/office/drawing/2014/main" val="712990632"/>
                    </a:ext>
                  </a:extLst>
                </a:gridCol>
              </a:tblGrid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NO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구 분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내 용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021686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1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CPU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RK3568J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개발환경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setup, bootloader, Linux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커널 포팅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, Platform QT design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59008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FAT file system, (eMMC &amp; DDR4 memory Interface)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017003"/>
                  </a:ext>
                </a:extLst>
              </a:tr>
              <a:tr h="268820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LCD w/ Touch (for Embedded)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LCD Driver( MIPI or LVDS device driver ,Touch device driver )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369854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4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NFC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NFC chipset Device Driver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217711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5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 BLE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UART / SPI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589792"/>
                  </a:ext>
                </a:extLst>
              </a:tr>
              <a:tr h="288984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6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Camera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2x MIPI-C : Device Driver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286671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7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Ethernet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10/100/1000 Mbps, Chipset Device Driver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241142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8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RS422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Chipset Device Driver and sample test 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516644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9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 OTG driver, USB Host driver function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923936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10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Audio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Internal audio codec implement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181095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11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Buttons I/O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GPIO driver management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350464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12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 LEDs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GPIO driver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management</a:t>
                      </a:r>
                      <a:endParaRPr 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431305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13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 &amp; 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Speaker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External Interface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</a:t>
                      </a:r>
                      <a:endParaRPr 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820469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14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PMIC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logic table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flow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</a:t>
                      </a:r>
                      <a:endParaRPr 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943967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15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FACE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얼굴인식 알고리즘 포팅</a:t>
                      </a:r>
                      <a:endParaRPr 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8298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A26F470-62DA-4782-BCD4-A08EB00DC56D}"/>
              </a:ext>
            </a:extLst>
          </p:cNvPr>
          <p:cNvSpPr txBox="1"/>
          <p:nvPr/>
        </p:nvSpPr>
        <p:spPr>
          <a:xfrm>
            <a:off x="751426" y="249113"/>
            <a:ext cx="666849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개발내용</a:t>
            </a:r>
            <a:endParaRPr lang="en-US" altLang="ko-KR" sz="13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45C76-4868-44E6-AC2A-86FE8E798022}"/>
              </a:ext>
            </a:extLst>
          </p:cNvPr>
          <p:cNvSpPr txBox="1"/>
          <p:nvPr/>
        </p:nvSpPr>
        <p:spPr>
          <a:xfrm>
            <a:off x="4955374" y="220481"/>
            <a:ext cx="232134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317"/>
              </a:spcBef>
            </a:pPr>
            <a:r>
              <a:rPr lang="en-US" altLang="ko-KR" sz="2800" b="1" spc="-79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S/W </a:t>
            </a:r>
            <a:r>
              <a:rPr lang="ko-KR" altLang="en-US" sz="2800" b="1" spc="-79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내용</a:t>
            </a:r>
            <a:endParaRPr lang="nn-NO" altLang="ko-KR" sz="2800" b="1" spc="-79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526703-CFAB-4E13-BD9F-1F9077DF0C99}"/>
              </a:ext>
            </a:extLst>
          </p:cNvPr>
          <p:cNvSpPr txBox="1"/>
          <p:nvPr/>
        </p:nvSpPr>
        <p:spPr>
          <a:xfrm>
            <a:off x="418803" y="230860"/>
            <a:ext cx="2276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590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A22DF-D955-EFB1-39BA-E48F1A7CB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94AB996-B56A-D1BB-08DB-59EA3AEC3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365968"/>
              </p:ext>
            </p:extLst>
          </p:nvPr>
        </p:nvGraphicFramePr>
        <p:xfrm>
          <a:off x="327687" y="1347103"/>
          <a:ext cx="11519780" cy="4768730"/>
        </p:xfrm>
        <a:graphic>
          <a:graphicData uri="http://schemas.openxmlformats.org/drawingml/2006/table">
            <a:tbl>
              <a:tblPr firstRow="1" bandRow="1"/>
              <a:tblGrid>
                <a:gridCol w="585340">
                  <a:extLst>
                    <a:ext uri="{9D8B030D-6E8A-4147-A177-3AD203B41FA5}">
                      <a16:colId xmlns:a16="http://schemas.microsoft.com/office/drawing/2014/main" val="1540706734"/>
                    </a:ext>
                  </a:extLst>
                </a:gridCol>
                <a:gridCol w="3117848">
                  <a:extLst>
                    <a:ext uri="{9D8B030D-6E8A-4147-A177-3AD203B41FA5}">
                      <a16:colId xmlns:a16="http://schemas.microsoft.com/office/drawing/2014/main" val="3393624408"/>
                    </a:ext>
                  </a:extLst>
                </a:gridCol>
                <a:gridCol w="7816592">
                  <a:extLst>
                    <a:ext uri="{9D8B030D-6E8A-4147-A177-3AD203B41FA5}">
                      <a16:colId xmlns:a16="http://schemas.microsoft.com/office/drawing/2014/main" val="712990632"/>
                    </a:ext>
                  </a:extLst>
                </a:gridCol>
              </a:tblGrid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NO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구 분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내 용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021686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1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개발환경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셋업</a:t>
                      </a:r>
                      <a:endParaRPr 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RK3568J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개발환경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Setup (SDK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 설치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) / RK3288W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EVB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동작 확인 및 분석</a:t>
                      </a:r>
                      <a:endParaRPr lang="en-US" sz="14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59008"/>
                  </a:ext>
                </a:extLst>
              </a:tr>
              <a:tr h="140382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커널</a:t>
                      </a:r>
                      <a:r>
                        <a:rPr 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포팅</a:t>
                      </a:r>
                      <a:endParaRPr 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 Semilight" panose="020B0502040204020203" pitchFamily="50" charset="-127"/>
                        </a:rPr>
                        <a:t>Boot Loader / Linux Kernel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 Semilight" panose="020B0502040204020203" pitchFamily="50" charset="-127"/>
                        </a:rPr>
                        <a:t>/ Device Tree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 Semilight" panose="020B0502040204020203" pitchFamily="50" charset="-127"/>
                        </a:rPr>
                        <a:t>포팅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017003"/>
                  </a:ext>
                </a:extLst>
              </a:tr>
              <a:tr h="1403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GUI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 개발환경 셋업</a:t>
                      </a:r>
                      <a:endParaRPr 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 Semilight" panose="020B0502040204020203" pitchFamily="50" charset="-127"/>
                        </a:rPr>
                        <a:t>RFS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 Semilight" panose="020B0502040204020203" pitchFamily="50" charset="-127"/>
                        </a:rPr>
                        <a:t>빌드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 Semilight" panose="020B0502040204020203" pitchFamily="50" charset="-127"/>
                        </a:rPr>
                        <a:t>/ GUI Platform Setup (Qt) / Simple GUI Test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993135"/>
                  </a:ext>
                </a:extLst>
              </a:tr>
              <a:tr h="13934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4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LCD w/ Touch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LCD/Touch Device Driver (MIPI or LVDS)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369854"/>
                  </a:ext>
                </a:extLst>
              </a:tr>
              <a:tr h="13934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5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+mn-ea"/>
                        </a:rPr>
                        <a:t>Camera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Camera Device Driver (2x MIPI-CSI)</a:t>
                      </a:r>
                      <a:endParaRPr 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169467"/>
                  </a:ext>
                </a:extLst>
              </a:tr>
              <a:tr h="140382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6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Face Recognition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얼굴인식 알고리즘 포팅</a:t>
                      </a:r>
                      <a:endParaRPr 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217711"/>
                  </a:ext>
                </a:extLst>
              </a:tr>
              <a:tr h="1403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7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+mn-ea"/>
                        </a:rPr>
                        <a:t>NFC</a:t>
                      </a:r>
                      <a:endParaRPr lang="en-US" altLang="ko-KR" sz="1400" b="1" dirty="0">
                        <a:latin typeface="맑은 고딕" panose="020B0503020000020004" pitchFamily="50" charset="-127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NFC Chipset Device Driver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005498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8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+mn-ea"/>
                        </a:rPr>
                        <a:t>USB</a:t>
                      </a:r>
                      <a:endParaRPr 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USB OTG Function, USB Host Driver Function</a:t>
                      </a:r>
                      <a:endParaRPr 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589792"/>
                  </a:ext>
                </a:extLst>
              </a:tr>
              <a:tr h="288984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9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+mn-ea"/>
                        </a:rPr>
                        <a:t>RS422</a:t>
                      </a:r>
                      <a:endParaRPr 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Chipset Device Driver and Sample Test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286671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10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+mn-ea"/>
                        </a:rPr>
                        <a:t>GPIOs</a:t>
                      </a:r>
                      <a:endParaRPr 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Button, IR LED, Alarm, …</a:t>
                      </a:r>
                      <a:endParaRPr 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241142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11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Interface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 부분</a:t>
                      </a:r>
                      <a:endParaRPr 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BLE / Audio / Ethernet /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WiFi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Wiegand / MIC &amp; Speaker / RS485 / OSDP 3ch</a:t>
                      </a: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516644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12</a:t>
                      </a: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+mn-ea"/>
                          <a:cs typeface="맑은 고딕 Semilight" panose="020B0502040204020203" pitchFamily="50" charset="-127"/>
                        </a:rPr>
                        <a:t>테스트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+mn-ea"/>
                          <a:cs typeface="맑은 고딕 Semilight" panose="020B0502040204020203" pitchFamily="50" charset="-127"/>
                        </a:rPr>
                        <a:t> Application</a:t>
                      </a:r>
                      <a:endParaRPr 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Simple GUI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+mn-ea"/>
                        </a:rPr>
                        <a:t>구현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 (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+mn-ea"/>
                        </a:rPr>
                        <a:t>얼굴등록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+mn-ea"/>
                        </a:rPr>
                        <a:t>얼굴인식 등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923936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endParaRPr 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endParaRPr 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181095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 Semilight" panose="020B0502040204020203" pitchFamily="50" charset="-127"/>
                        </a:rPr>
                        <a:t>추가 협의 개발 내용</a:t>
                      </a:r>
                      <a:endParaRPr 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Optimization(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+mn-ea"/>
                        </a:rPr>
                        <a:t>부팅 속도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+mn-ea"/>
                        </a:rPr>
                        <a:t>안정성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, Power Management) / FW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Update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350464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인텔리빅스</a:t>
                      </a:r>
                      <a:r>
                        <a:rPr lang="ko-KR" altLang="en-US" sz="1400" b="1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개발 내용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 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UX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모바일앱</a:t>
                      </a:r>
                      <a:endParaRPr 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431305"/>
                  </a:ext>
                </a:extLst>
              </a:tr>
              <a:tr h="280763"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ctr"/>
                      <a:endParaRPr 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6400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12801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9202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256032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320040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384048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448056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5120640" algn="l" defTabSz="1280160" rtl="0" eaLnBrk="1" latinLnBrk="1" hangingPunct="1">
                        <a:defRPr sz="252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algn="l"/>
                      <a:endParaRPr 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068" marR="87068" marT="32663" marB="32663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2046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25C60BB-9632-0A18-1C10-6A6D4A3FA016}"/>
              </a:ext>
            </a:extLst>
          </p:cNvPr>
          <p:cNvSpPr txBox="1"/>
          <p:nvPr/>
        </p:nvSpPr>
        <p:spPr>
          <a:xfrm>
            <a:off x="751426" y="249113"/>
            <a:ext cx="1059585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세부 개발내용</a:t>
            </a:r>
            <a:endParaRPr lang="en-US" altLang="ko-KR" sz="13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5A4537-9779-6420-55E6-B90A9EF42122}"/>
              </a:ext>
            </a:extLst>
          </p:cNvPr>
          <p:cNvSpPr txBox="1"/>
          <p:nvPr/>
        </p:nvSpPr>
        <p:spPr>
          <a:xfrm>
            <a:off x="4955374" y="220481"/>
            <a:ext cx="313573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317"/>
              </a:spcBef>
            </a:pPr>
            <a:r>
              <a:rPr lang="en-US" altLang="ko-KR" sz="2800" b="1" spc="-79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S/W </a:t>
            </a:r>
            <a:r>
              <a:rPr lang="ko-KR" altLang="en-US" sz="2800" b="1" spc="-79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 개발 내용</a:t>
            </a:r>
            <a:endParaRPr lang="nn-NO" altLang="ko-KR" sz="2800" b="1" spc="-79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07948C-31D1-1846-C7B5-43DE55240C5F}"/>
              </a:ext>
            </a:extLst>
          </p:cNvPr>
          <p:cNvSpPr txBox="1"/>
          <p:nvPr/>
        </p:nvSpPr>
        <p:spPr>
          <a:xfrm>
            <a:off x="418803" y="230860"/>
            <a:ext cx="2276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31483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2F80-B47E-5611-D5E9-1205821A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EA6A04-2182-6B15-9E6C-462C1D7B4ABE}"/>
              </a:ext>
            </a:extLst>
          </p:cNvPr>
          <p:cNvSpPr txBox="1"/>
          <p:nvPr/>
        </p:nvSpPr>
        <p:spPr>
          <a:xfrm>
            <a:off x="751426" y="249113"/>
            <a:ext cx="666849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개발일정</a:t>
            </a:r>
            <a:endParaRPr lang="en-US" altLang="ko-KR" sz="13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0F8A15-E742-5CEF-A547-F24E57EDFC0C}"/>
              </a:ext>
            </a:extLst>
          </p:cNvPr>
          <p:cNvSpPr txBox="1"/>
          <p:nvPr/>
        </p:nvSpPr>
        <p:spPr>
          <a:xfrm>
            <a:off x="4955374" y="220481"/>
            <a:ext cx="151227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317"/>
              </a:spcBef>
            </a:pPr>
            <a:r>
              <a:rPr lang="ko-KR" altLang="en-US" sz="2800" b="1" spc="-79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일정</a:t>
            </a:r>
            <a:endParaRPr lang="nn-NO" altLang="ko-KR" sz="2800" b="1" spc="-79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9ABD70-E639-3AF5-6685-E6F8EBB3E1C7}"/>
              </a:ext>
            </a:extLst>
          </p:cNvPr>
          <p:cNvSpPr txBox="1"/>
          <p:nvPr/>
        </p:nvSpPr>
        <p:spPr>
          <a:xfrm>
            <a:off x="418803" y="230860"/>
            <a:ext cx="2276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rPr>
              <a:t>03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98A8701-C498-4046-4089-33F3B8FBE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03" y="1021501"/>
            <a:ext cx="11214744" cy="558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57150">
          <a:gradFill>
            <a:gsLst>
              <a:gs pos="0">
                <a:srgbClr val="2C87EC"/>
              </a:gs>
              <a:gs pos="50000">
                <a:srgbClr val="2E71EA"/>
              </a:gs>
              <a:gs pos="100000">
                <a:srgbClr val="1350BD"/>
              </a:gs>
            </a:gsLst>
            <a:lin ang="5400000" scaled="0"/>
          </a:gradFill>
        </a:ln>
      </a:spPr>
      <a:bodyPr wrap="square" lIns="0" tIns="0" rIns="0" bIns="0" rtlCol="0"/>
      <a:lstStyle>
        <a:defPPr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1218</TotalTime>
  <Words>1367</Words>
  <Application>Microsoft Office PowerPoint</Application>
  <PresentationFormat>사용자 지정</PresentationFormat>
  <Paragraphs>394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adminstrator</dc:creator>
  <cp:lastModifiedBy>정태식</cp:lastModifiedBy>
  <cp:revision>239</cp:revision>
  <cp:lastPrinted>2024-03-28T00:47:38Z</cp:lastPrinted>
  <dcterms:created xsi:type="dcterms:W3CDTF">2024-01-10T04:55:10Z</dcterms:created>
  <dcterms:modified xsi:type="dcterms:W3CDTF">2025-05-06T23:51:34Z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2024-01-10T00:00:00Z</vt:filetime>
  </property>
  <property fmtid="{D5CDD505-2E9C-101B-9397-08002B2CF9AE}" pid="3" name="LastSaved">
    <vt:filetime>2024-01-10T00:00:00Z</vt:filetime>
  </property>
  <property fmtid="{D5CDD505-2E9C-101B-9397-08002B2CF9AE}" pid="4" name="Producer">
    <vt:lpwstr>GPL Ghostscript 10.02.1</vt:lpwstr>
  </property>
  <property fmtid="{D5CDD505-2E9C-101B-9397-08002B2CF9AE}" pid="5" name="NSCPROP_SA">
    <vt:lpwstr>C:\Users\신길호\Desktop\우수기업연구소_발표자료_V 0.2_240327 (1).pptx</vt:lpwstr>
  </property>
</Properties>
</file>