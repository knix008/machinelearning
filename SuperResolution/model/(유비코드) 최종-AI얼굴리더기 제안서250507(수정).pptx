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366" r:id="rId2"/>
    <p:sldId id="369" r:id="rId3"/>
    <p:sldId id="347" r:id="rId4"/>
    <p:sldId id="348" r:id="rId5"/>
    <p:sldId id="349" r:id="rId6"/>
    <p:sldId id="350" r:id="rId7"/>
    <p:sldId id="351" r:id="rId8"/>
    <p:sldId id="367" r:id="rId9"/>
    <p:sldId id="352" r:id="rId10"/>
    <p:sldId id="353" r:id="rId11"/>
    <p:sldId id="354" r:id="rId12"/>
    <p:sldId id="368" r:id="rId13"/>
    <p:sldId id="370" r:id="rId14"/>
  </p:sldIdLst>
  <p:sldSz cx="12190413" cy="6859588"/>
  <p:notesSz cx="9866313" cy="6735763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5993">
          <p15:clr>
            <a:srgbClr val="A4A3A4"/>
          </p15:clr>
        </p15:guide>
        <p15:guide id="2" pos="3839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121">
          <p15:clr>
            <a:srgbClr val="A4A3A4"/>
          </p15:clr>
        </p15:guide>
        <p15:guide id="2" pos="3107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2E71EA"/>
    <a:srgbClr val="2A48A6"/>
    <a:srgbClr val="1350BD"/>
    <a:srgbClr val="26A9F2"/>
    <a:srgbClr val="221B83"/>
    <a:srgbClr val="FFC000"/>
    <a:srgbClr val="355EE3"/>
    <a:srgbClr val="1F30B1"/>
    <a:srgbClr val="4DCAF1"/>
    <a:srgbClr val="EAEAEA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15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4F14A944-8357-4847-AA6D-C7F5DF33E58F}" v="15" dt="2025-03-05T23:57:16.024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EB344D84-9AFB-497E-A393-DC336BA19D2E}" styleName="보통 스타일 3 - 강조 3">
    <a:wholeTbl>
      <a:tcTxStyle>
        <a:fontRef idx="minor">
          <a:scrgbClr r="0" g="0" b="0"/>
        </a:fontRef>
        <a:schemeClr val="dk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25400" cmpd="sng">
              <a:solidFill>
                <a:schemeClr val="dk1"/>
              </a:solidFill>
            </a:ln>
          </a:top>
          <a:bottom>
            <a:ln w="25400" cmpd="sng">
              <a:solidFill>
                <a:schemeClr val="dk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dk1">
              <a:tint val="20000"/>
            </a:schemeClr>
          </a:solidFill>
        </a:fill>
      </a:tcStyle>
    </a:band1H>
    <a:band1V>
      <a:tcStyle>
        <a:tcBdr/>
        <a:fill>
          <a:solidFill>
            <a:schemeClr val="dk1">
              <a:tint val="20000"/>
            </a:schemeClr>
          </a:solidFill>
        </a:fill>
      </a:tcStyle>
    </a:band1V>
    <a:la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/>
      <a:tcStyle>
        <a:tcBdr>
          <a:top>
            <a:ln w="50800" cmpd="dbl">
              <a:solidFill>
                <a:schemeClr val="dk1"/>
              </a:solidFill>
            </a:ln>
          </a:top>
        </a:tcBdr>
        <a:fill>
          <a:solidFill>
            <a:schemeClr val="lt1"/>
          </a:solidFill>
        </a:fill>
      </a:tcStyle>
    </a:lastRow>
    <a:seCell>
      <a:tcTxStyle b="on">
        <a:fontRef idx="minor">
          <a:scrgbClr r="0" g="0" b="0"/>
        </a:fontRef>
        <a:schemeClr val="dk1"/>
      </a:tcTxStyle>
      <a:tcStyle>
        <a:tcBdr/>
      </a:tcStyle>
    </a:seCell>
    <a:swCell>
      <a:tcTxStyle b="on">
        <a:fontRef idx="minor">
          <a:scrgbClr r="0" g="0" b="0"/>
        </a:fontRef>
        <a:schemeClr val="dk1"/>
      </a:tcTxStyle>
      <a:tcStyle>
        <a:tcBdr/>
      </a:tcStyle>
    </a:swCell>
    <a:firstRow>
      <a:tcTxStyle b="on">
        <a:fontRef idx="minor">
          <a:scrgbClr r="0" g="0" b="0"/>
        </a:fontRef>
        <a:schemeClr val="lt1"/>
      </a:tcTxStyle>
      <a:tcStyle>
        <a:tcBdr>
          <a:bottom>
            <a:ln w="25400" cmpd="sng">
              <a:solidFill>
                <a:schemeClr val="dk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9927" autoAdjust="0"/>
    <p:restoredTop sz="94660"/>
  </p:normalViewPr>
  <p:slideViewPr>
    <p:cSldViewPr snapToGrid="0">
      <p:cViewPr varScale="1">
        <p:scale>
          <a:sx n="143" d="100"/>
          <a:sy n="143" d="100"/>
        </p:scale>
        <p:origin x="150" y="210"/>
      </p:cViewPr>
      <p:guideLst>
        <p:guide orient="horz" pos="5993"/>
        <p:guide pos="3839"/>
      </p:guideLst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>
      <p:cViewPr varScale="1">
        <p:scale>
          <a:sx n="120" d="100"/>
          <a:sy n="120" d="100"/>
        </p:scale>
        <p:origin x="-1982" y="-72"/>
      </p:cViewPr>
      <p:guideLst>
        <p:guide orient="horz" pos="2121"/>
        <p:guide pos="3107"/>
      </p:guideLst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275138" cy="336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588000" y="0"/>
            <a:ext cx="4276725" cy="33655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1AF82AEA-E3AB-4087-9E20-35B46860BB2B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397625"/>
            <a:ext cx="4275138" cy="336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588000" y="6397625"/>
            <a:ext cx="4276725" cy="33655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57B0CF50-F52E-48BD-AD54-A598A0711843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618276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4275046" cy="337437"/>
          </a:xfrm>
          <a:prstGeom prst="rect">
            <a:avLst/>
          </a:prstGeom>
        </p:spPr>
        <p:txBody>
          <a:bodyPr vert="horz" lIns="165900" tIns="82950" rIns="165900" bIns="82950" rtlCol="0"/>
          <a:lstStyle>
            <a:lvl1pPr algn="l">
              <a:defRPr sz="2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588594" y="0"/>
            <a:ext cx="4275046" cy="337437"/>
          </a:xfrm>
          <a:prstGeom prst="rect">
            <a:avLst/>
          </a:prstGeom>
        </p:spPr>
        <p:txBody>
          <a:bodyPr vert="horz" lIns="165900" tIns="82950" rIns="165900" bIns="82950" rtlCol="0"/>
          <a:lstStyle>
            <a:lvl1pPr algn="r">
              <a:defRPr sz="2200"/>
            </a:lvl1pPr>
          </a:lstStyle>
          <a:p>
            <a:fld id="{D49EC9C7-B54A-4E0A-A7AE-FA9E1D2CCFA0}" type="datetimeFigureOut">
              <a:rPr lang="ko-KR" altLang="en-US" smtClean="0"/>
              <a:t>2026-01-30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2690813" y="506413"/>
            <a:ext cx="4484687" cy="25241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5900" tIns="82950" rIns="165900" bIns="8295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87168" y="3199164"/>
            <a:ext cx="7891980" cy="3030444"/>
          </a:xfrm>
          <a:prstGeom prst="rect">
            <a:avLst/>
          </a:prstGeom>
        </p:spPr>
        <p:txBody>
          <a:bodyPr vert="horz" lIns="165900" tIns="82950" rIns="165900" bIns="82950" rtlCol="0"/>
          <a:lstStyle/>
          <a:p>
            <a:pPr lvl="0"/>
            <a:r>
              <a:rPr lang="ko-KR" altLang="en-US"/>
              <a:t>마스터 텍스트 스타일을 편집합니다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1" y="6398326"/>
            <a:ext cx="4275046" cy="337437"/>
          </a:xfrm>
          <a:prstGeom prst="rect">
            <a:avLst/>
          </a:prstGeom>
        </p:spPr>
        <p:txBody>
          <a:bodyPr vert="horz" lIns="165900" tIns="82950" rIns="165900" bIns="82950" rtlCol="0" anchor="b"/>
          <a:lstStyle>
            <a:lvl1pPr algn="l">
              <a:defRPr sz="2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588594" y="6398326"/>
            <a:ext cx="4275046" cy="337437"/>
          </a:xfrm>
          <a:prstGeom prst="rect">
            <a:avLst/>
          </a:prstGeom>
        </p:spPr>
        <p:txBody>
          <a:bodyPr vert="horz" lIns="165900" tIns="82950" rIns="165900" bIns="82950" rtlCol="0" anchor="b"/>
          <a:lstStyle>
            <a:lvl1pPr algn="r">
              <a:defRPr sz="2200"/>
            </a:lvl1pPr>
          </a:lstStyle>
          <a:p>
            <a:fld id="{B0781F97-5BDF-4CD9-8D31-8F07B370440B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87505008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1pPr>
    <a:lvl2pPr marL="967594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2pPr>
    <a:lvl3pPr marL="1935188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3pPr>
    <a:lvl4pPr marL="2902782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4pPr>
    <a:lvl5pPr marL="3870375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5pPr>
    <a:lvl6pPr marL="4837970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6pPr>
    <a:lvl7pPr marL="5805563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7pPr>
    <a:lvl8pPr marL="6773157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8pPr>
    <a:lvl9pPr marL="7740750" algn="l" defTabSz="1935188" rtl="0" eaLnBrk="1" latinLnBrk="1" hangingPunct="1">
      <a:defRPr sz="25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8AF72064-36CD-21DB-E1EE-22739660556F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9611" y="163269"/>
            <a:ext cx="1754660" cy="33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3559910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2"/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448785" y="214589"/>
            <a:ext cx="1507220" cy="14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6" name="Picture 2"/>
          <p:cNvPicPr>
            <a:picLocks noChangeAspect="1" noChangeArrowheads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2" y="0"/>
            <a:ext cx="12190416" cy="90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4" name="직선 연결선 3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5" name="Picture 2"/>
          <p:cNvPicPr>
            <a:picLocks noChangeAspect="1" noChangeArrowheads="1"/>
          </p:cNvPicPr>
          <p:nvPr userDrawn="1"/>
        </p:nvPicPr>
        <p:blipFill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tretch>
            <a:fillRect/>
          </a:stretch>
        </p:blipFill>
        <p:spPr bwMode="auto">
          <a:xfrm>
            <a:off x="10448785" y="214589"/>
            <a:ext cx="1507220" cy="14834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6" name="직사각형 5"/>
          <p:cNvSpPr/>
          <p:nvPr userDrawn="1"/>
        </p:nvSpPr>
        <p:spPr>
          <a:xfrm>
            <a:off x="25397" y="6526335"/>
            <a:ext cx="4672992" cy="292384"/>
          </a:xfrm>
          <a:prstGeom prst="rect">
            <a:avLst/>
          </a:prstGeom>
        </p:spPr>
        <p:txBody>
          <a:bodyPr wrap="square" lIns="121917" tIns="60958" rIns="121917" bIns="60958">
            <a:spAutoFit/>
          </a:bodyPr>
          <a:lstStyle/>
          <a:p>
            <a:pPr algn="l"/>
            <a:r>
              <a:rPr lang="en-US" altLang="ko-KR" sz="1100" b="0" i="0">
                <a:solidFill>
                  <a:schemeClr val="bg1">
                    <a:lumMod val="75000"/>
                  </a:schemeClr>
                </a:solidFill>
                <a:effectLst/>
                <a:latin typeface="맑은 고딕" panose="020B0503020000020004" pitchFamily="50" charset="-127"/>
                <a:ea typeface="+mj-ea"/>
                <a:cs typeface="Arial" panose="020B0604020202020204" pitchFamily="34" charset="0"/>
              </a:rPr>
              <a:t>Copyright ⓒ 2010-2024 CAMMSYS Corp. All Rights Reserved.</a:t>
            </a:r>
            <a:endParaRPr lang="ko-KR" altLang="en-US" sz="1100" b="0">
              <a:solidFill>
                <a:schemeClr val="bg1">
                  <a:lumMod val="75000"/>
                </a:schemeClr>
              </a:solidFill>
              <a:latin typeface="맑은 고딕" panose="020B0503020000020004" pitchFamily="50" charset="-127"/>
              <a:ea typeface="+mj-ea"/>
              <a:cs typeface="Arial" panose="020B0604020202020204" pitchFamily="34" charset="0"/>
            </a:endParaRPr>
          </a:p>
        </p:txBody>
      </p:sp>
      <p:sp>
        <p:nvSpPr>
          <p:cNvPr id="8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4650" y="6470032"/>
            <a:ext cx="711107" cy="366267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9" name="Picture 2"/>
          <p:cNvPicPr>
            <a:picLocks noChangeAspect="1" noChangeArrowheads="1"/>
          </p:cNvPicPr>
          <p:nvPr userDrawn="1"/>
        </p:nvPicPr>
        <p:blipFill rotWithShape="1">
          <a:blip r:embed="rId3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-2" y="0"/>
            <a:ext cx="12190416" cy="90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 userDrawn="1"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/>
        </p:blipFill>
        <p:spPr bwMode="auto">
          <a:xfrm>
            <a:off x="0" y="28683"/>
            <a:ext cx="12190416" cy="90953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4" name="직선 연결선 3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11394650" y="6470032"/>
            <a:ext cx="711107" cy="366267"/>
          </a:xfrm>
          <a:prstGeom prst="rect">
            <a:avLst/>
          </a:prstGeom>
        </p:spPr>
        <p:txBody>
          <a:bodyPr vert="horz" lIns="121917" tIns="60958" rIns="121917" bIns="60958" rtlCol="0" anchor="ctr"/>
          <a:lstStyle>
            <a:lvl1pPr algn="r">
              <a:defRPr sz="120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</a:lstStyle>
          <a:p>
            <a:fld id="{7DABB789-FA18-47F0-8F5E-895E398FBCAD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6" name="그림 5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E03F88FA-0529-5AC0-E4A4-1AFF5A81931A}"/>
              </a:ext>
            </a:extLst>
          </p:cNvPr>
          <p:cNvPicPr>
            <a:picLocks noChangeAspect="1"/>
          </p:cNvPicPr>
          <p:nvPr userDrawn="1"/>
        </p:nvPicPr>
        <p:blipFill>
          <a:blip r:embed="rId3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9611" y="163269"/>
            <a:ext cx="1754660" cy="3325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8532883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566908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06301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448823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</p:spTree>
    <p:extLst>
      <p:ext uri="{BB962C8B-B14F-4D97-AF65-F5344CB8AC3E}">
        <p14:creationId xmlns:p14="http://schemas.microsoft.com/office/powerpoint/2010/main" val="289539210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2650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7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8517679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8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94790493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9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04429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2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2656997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3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17216520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4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8902251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5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226188856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6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텍스트 개체 틀 5"/>
          <p:cNvSpPr>
            <a:spLocks noGrp="1"/>
          </p:cNvSpPr>
          <p:nvPr>
            <p:ph type="body" sz="quarter" idx="11" hasCustomPrompt="1"/>
          </p:nvPr>
        </p:nvSpPr>
        <p:spPr>
          <a:xfrm>
            <a:off x="129606" y="29897"/>
            <a:ext cx="5375700" cy="476360"/>
          </a:xfrm>
          <a:prstGeom prst="rect">
            <a:avLst/>
          </a:prstGeom>
        </p:spPr>
        <p:txBody>
          <a:bodyPr lIns="77751" tIns="38876" rIns="77751" bIns="38876" anchor="ctr"/>
          <a:lstStyle>
            <a:lvl1pPr algn="l">
              <a:buNone/>
              <a:defRPr sz="2400" b="0">
                <a:solidFill>
                  <a:schemeClr val="tx1">
                    <a:lumMod val="75000"/>
                    <a:lumOff val="25000"/>
                  </a:schemeClr>
                </a:solidFill>
                <a:latin typeface="맑은 고딕" panose="020B0503020000020004" pitchFamily="50" charset="-127"/>
                <a:ea typeface="맑은 고딕" panose="020B0503020000020004" pitchFamily="50" charset="-127"/>
              </a:defRPr>
            </a:lvl1pPr>
          </a:lstStyle>
          <a:p>
            <a:pPr lvl="0"/>
            <a:r>
              <a:rPr lang="ko-KR" altLang="en-US" dirty="0"/>
              <a:t>프레젠테이션 소제목</a:t>
            </a:r>
          </a:p>
        </p:txBody>
      </p:sp>
      <p:cxnSp>
        <p:nvCxnSpPr>
          <p:cNvPr id="5" name="직선 연결선 4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017972561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7_사용자 지정 레이아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2" name="직선 연결선 1"/>
          <p:cNvCxnSpPr/>
          <p:nvPr userDrawn="1"/>
        </p:nvCxnSpPr>
        <p:spPr>
          <a:xfrm>
            <a:off x="679362" y="261166"/>
            <a:ext cx="0" cy="217201"/>
          </a:xfrm>
          <a:prstGeom prst="line">
            <a:avLst/>
          </a:prstGeom>
          <a:ln w="6350">
            <a:solidFill>
              <a:schemeClr val="bg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56412605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그림 1" descr="폰트, 그래픽, 로고, 상징이(가) 표시된 사진&#10;&#10;AI가 생성한 콘텐츠는 부정확할 수 있습니다.">
            <a:extLst>
              <a:ext uri="{FF2B5EF4-FFF2-40B4-BE49-F238E27FC236}">
                <a16:creationId xmlns:a16="http://schemas.microsoft.com/office/drawing/2014/main" id="{26B26543-558F-BA76-76DB-42751EF1D61B}"/>
              </a:ext>
            </a:extLst>
          </p:cNvPr>
          <p:cNvPicPr>
            <a:picLocks noChangeAspect="1"/>
          </p:cNvPicPr>
          <p:nvPr userDrawn="1"/>
        </p:nvPicPr>
        <p:blipFill>
          <a:blip r:embed="rId20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169611" y="163269"/>
            <a:ext cx="1754660" cy="332537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80" r:id="rId1"/>
    <p:sldLayoutId id="2147483661" r:id="rId2"/>
    <p:sldLayoutId id="2147483662" r:id="rId3"/>
    <p:sldLayoutId id="2147483663" r:id="rId4"/>
    <p:sldLayoutId id="2147483664" r:id="rId5"/>
    <p:sldLayoutId id="2147483665" r:id="rId6"/>
    <p:sldLayoutId id="2147483666" r:id="rId7"/>
    <p:sldLayoutId id="2147483667" r:id="rId8"/>
    <p:sldLayoutId id="2147483668" r:id="rId9"/>
    <p:sldLayoutId id="2147483669" r:id="rId10"/>
    <p:sldLayoutId id="2147483670" r:id="rId11"/>
    <p:sldLayoutId id="2147483671" r:id="rId12"/>
    <p:sldLayoutId id="2147483674" r:id="rId13"/>
    <p:sldLayoutId id="2147483675" r:id="rId14"/>
    <p:sldLayoutId id="2147483676" r:id="rId15"/>
    <p:sldLayoutId id="2147483677" r:id="rId16"/>
    <p:sldLayoutId id="2147483678" r:id="rId17"/>
    <p:sldLayoutId id="2147483679" r:id="rId18"/>
  </p:sldLayoutIdLst>
  <p:hf hdr="0" ft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951726">
        <a:defRPr>
          <a:latin typeface="+mn-lt"/>
          <a:ea typeface="+mn-ea"/>
          <a:cs typeface="+mn-cs"/>
        </a:defRPr>
      </a:lvl2pPr>
      <a:lvl3pPr marL="1903451">
        <a:defRPr>
          <a:latin typeface="+mn-lt"/>
          <a:ea typeface="+mn-ea"/>
          <a:cs typeface="+mn-cs"/>
        </a:defRPr>
      </a:lvl3pPr>
      <a:lvl4pPr marL="2855177">
        <a:defRPr>
          <a:latin typeface="+mn-lt"/>
          <a:ea typeface="+mn-ea"/>
          <a:cs typeface="+mn-cs"/>
        </a:defRPr>
      </a:lvl4pPr>
      <a:lvl5pPr marL="3806902">
        <a:defRPr>
          <a:latin typeface="+mn-lt"/>
          <a:ea typeface="+mn-ea"/>
          <a:cs typeface="+mn-cs"/>
        </a:defRPr>
      </a:lvl5pPr>
      <a:lvl6pPr marL="4758628">
        <a:defRPr>
          <a:latin typeface="+mn-lt"/>
          <a:ea typeface="+mn-ea"/>
          <a:cs typeface="+mn-cs"/>
        </a:defRPr>
      </a:lvl6pPr>
      <a:lvl7pPr marL="5710353">
        <a:defRPr>
          <a:latin typeface="+mn-lt"/>
          <a:ea typeface="+mn-ea"/>
          <a:cs typeface="+mn-cs"/>
        </a:defRPr>
      </a:lvl7pPr>
      <a:lvl8pPr marL="6662076">
        <a:defRPr>
          <a:latin typeface="+mn-lt"/>
          <a:ea typeface="+mn-ea"/>
          <a:cs typeface="+mn-cs"/>
        </a:defRPr>
      </a:lvl8pPr>
      <a:lvl9pPr marL="7613802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951726">
        <a:defRPr>
          <a:latin typeface="+mn-lt"/>
          <a:ea typeface="+mn-ea"/>
          <a:cs typeface="+mn-cs"/>
        </a:defRPr>
      </a:lvl2pPr>
      <a:lvl3pPr marL="1903451">
        <a:defRPr>
          <a:latin typeface="+mn-lt"/>
          <a:ea typeface="+mn-ea"/>
          <a:cs typeface="+mn-cs"/>
        </a:defRPr>
      </a:lvl3pPr>
      <a:lvl4pPr marL="2855177">
        <a:defRPr>
          <a:latin typeface="+mn-lt"/>
          <a:ea typeface="+mn-ea"/>
          <a:cs typeface="+mn-cs"/>
        </a:defRPr>
      </a:lvl4pPr>
      <a:lvl5pPr marL="3806902">
        <a:defRPr>
          <a:latin typeface="+mn-lt"/>
          <a:ea typeface="+mn-ea"/>
          <a:cs typeface="+mn-cs"/>
        </a:defRPr>
      </a:lvl5pPr>
      <a:lvl6pPr marL="4758628">
        <a:defRPr>
          <a:latin typeface="+mn-lt"/>
          <a:ea typeface="+mn-ea"/>
          <a:cs typeface="+mn-cs"/>
        </a:defRPr>
      </a:lvl6pPr>
      <a:lvl7pPr marL="5710353">
        <a:defRPr>
          <a:latin typeface="+mn-lt"/>
          <a:ea typeface="+mn-ea"/>
          <a:cs typeface="+mn-cs"/>
        </a:defRPr>
      </a:lvl7pPr>
      <a:lvl8pPr marL="6662076">
        <a:defRPr>
          <a:latin typeface="+mn-lt"/>
          <a:ea typeface="+mn-ea"/>
          <a:cs typeface="+mn-cs"/>
        </a:defRPr>
      </a:lvl8pPr>
      <a:lvl9pPr marL="7613802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13.png"/><Relationship Id="rId3" Type="http://schemas.openxmlformats.org/officeDocument/2006/relationships/image" Target="../media/image8.jpeg"/><Relationship Id="rId7" Type="http://schemas.openxmlformats.org/officeDocument/2006/relationships/image" Target="../media/image12.png"/><Relationship Id="rId2" Type="http://schemas.openxmlformats.org/officeDocument/2006/relationships/image" Target="../media/image7.jpeg"/><Relationship Id="rId1" Type="http://schemas.openxmlformats.org/officeDocument/2006/relationships/slideLayout" Target="../slideLayouts/slideLayout4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hyperlink" Target="https://m.cafe.daum.net/all-for-led/HmQe/9?q=diode&amp;" TargetMode="External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emf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D:\REF\background,image\CK_cb0460056669.jp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350" b="30205"/>
          <a:stretch/>
        </p:blipFill>
        <p:spPr bwMode="auto">
          <a:xfrm>
            <a:off x="-1" y="1240"/>
            <a:ext cx="12190413" cy="2891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4345533" y="2893077"/>
            <a:ext cx="3050515" cy="114890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en-US" altLang="ko-KR" sz="3733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AI</a:t>
            </a:r>
            <a:r>
              <a:rPr lang="ko-KR" altLang="en-US" sz="3733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 얼굴리더기</a:t>
            </a:r>
            <a:endParaRPr lang="en-US" altLang="ko-KR" sz="3733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  <a:p>
            <a:pPr algn="l"/>
            <a:r>
              <a:rPr lang="ko-KR" altLang="en-US" sz="3733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 제안서</a:t>
            </a:r>
            <a:endParaRPr lang="en-US" altLang="ko-KR" sz="3733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cxnSp>
        <p:nvCxnSpPr>
          <p:cNvPr id="8" name="직선 연결선 7"/>
          <p:cNvCxnSpPr/>
          <p:nvPr/>
        </p:nvCxnSpPr>
        <p:spPr>
          <a:xfrm>
            <a:off x="5603901" y="3226621"/>
            <a:ext cx="0" cy="406347"/>
          </a:xfrm>
          <a:prstGeom prst="line">
            <a:avLst/>
          </a:prstGeom>
          <a:ln w="12700">
            <a:solidFill>
              <a:srgbClr val="2E71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" name="TextBox 1">
            <a:extLst>
              <a:ext uri="{FF2B5EF4-FFF2-40B4-BE49-F238E27FC236}">
                <a16:creationId xmlns:a16="http://schemas.microsoft.com/office/drawing/2014/main" id="{574DC257-0671-EDB2-291B-166EDF9F1AF1}"/>
              </a:ext>
            </a:extLst>
          </p:cNvPr>
          <p:cNvSpPr txBox="1"/>
          <p:nvPr/>
        </p:nvSpPr>
        <p:spPr>
          <a:xfrm>
            <a:off x="10725666" y="5857103"/>
            <a:ext cx="1107996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ko-KR" altLang="en-US" b="1" dirty="0">
                <a:solidFill>
                  <a:srgbClr val="1350BD"/>
                </a:solidFill>
              </a:rPr>
              <a:t>유비코드</a:t>
            </a:r>
            <a:endParaRPr lang="en-US" altLang="ko-KR" b="1" dirty="0">
              <a:solidFill>
                <a:srgbClr val="1350BD"/>
              </a:solidFill>
            </a:endParaRPr>
          </a:p>
          <a:p>
            <a:pPr algn="ctr"/>
            <a:r>
              <a:rPr lang="en-US" altLang="ko-KR" b="1" dirty="0">
                <a:solidFill>
                  <a:srgbClr val="1350BD"/>
                </a:solidFill>
              </a:rPr>
              <a:t>2025.3</a:t>
            </a:r>
            <a:endParaRPr lang="ko-KR" altLang="en-US" b="1" dirty="0">
              <a:solidFill>
                <a:srgbClr val="1350BD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877136509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DAE959D-D813-FFCD-017B-29AE3716AB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D:\REF\background,image\CK_cb0460056669.jpg">
            <a:extLst>
              <a:ext uri="{FF2B5EF4-FFF2-40B4-BE49-F238E27FC236}">
                <a16:creationId xmlns:a16="http://schemas.microsoft.com/office/drawing/2014/main" id="{2D6ECDAD-80B1-341A-BF82-589803A1869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350" b="30205"/>
          <a:stretch/>
        </p:blipFill>
        <p:spPr bwMode="auto">
          <a:xfrm>
            <a:off x="-1" y="1240"/>
            <a:ext cx="12190413" cy="2891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4242E85A-3F77-0C96-B309-8F57232F3B4A}"/>
              </a:ext>
            </a:extLst>
          </p:cNvPr>
          <p:cNvSpPr txBox="1"/>
          <p:nvPr/>
        </p:nvSpPr>
        <p:spPr>
          <a:xfrm>
            <a:off x="5766560" y="3165901"/>
            <a:ext cx="1917192" cy="5744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ko-KR" altLang="en-US" sz="3733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3733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FC42FE6-0205-C6A5-6F93-1EDEF3FAF7D5}"/>
              </a:ext>
            </a:extLst>
          </p:cNvPr>
          <p:cNvSpPr txBox="1"/>
          <p:nvPr/>
        </p:nvSpPr>
        <p:spPr>
          <a:xfrm>
            <a:off x="4830468" y="3104116"/>
            <a:ext cx="634790" cy="6564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4266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50" charset="-127"/>
              </a:rPr>
              <a:t>01</a:t>
            </a:r>
          </a:p>
        </p:txBody>
      </p:sp>
      <p:cxnSp>
        <p:nvCxnSpPr>
          <p:cNvPr id="8" name="직선 연결선 7">
            <a:extLst>
              <a:ext uri="{FF2B5EF4-FFF2-40B4-BE49-F238E27FC236}">
                <a16:creationId xmlns:a16="http://schemas.microsoft.com/office/drawing/2014/main" id="{61BEE39B-B9BD-23B8-4BD1-A151002442FA}"/>
              </a:ext>
            </a:extLst>
          </p:cNvPr>
          <p:cNvCxnSpPr/>
          <p:nvPr/>
        </p:nvCxnSpPr>
        <p:spPr>
          <a:xfrm>
            <a:off x="5603901" y="3226621"/>
            <a:ext cx="0" cy="406347"/>
          </a:xfrm>
          <a:prstGeom prst="line">
            <a:avLst/>
          </a:prstGeom>
          <a:ln w="12700">
            <a:solidFill>
              <a:srgbClr val="2E71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3599809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직사각형 64"/>
          <p:cNvSpPr/>
          <p:nvPr/>
        </p:nvSpPr>
        <p:spPr>
          <a:xfrm>
            <a:off x="645628" y="3878558"/>
            <a:ext cx="10855492" cy="2669561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noFill/>
          </a:ln>
        </p:spPr>
        <p:txBody>
          <a:bodyPr wrap="square" lIns="0" tIns="0" rIns="0" bIns="0" rtlCol="0" anchor="ctr"/>
          <a:lstStyle/>
          <a:p>
            <a:pPr algn="ctr"/>
            <a:endParaRPr lang="ko-KR" altLang="en-US" sz="2000" dirty="0"/>
          </a:p>
        </p:txBody>
      </p:sp>
      <p:sp>
        <p:nvSpPr>
          <p:cNvPr id="64" name="직사각형 63"/>
          <p:cNvSpPr/>
          <p:nvPr/>
        </p:nvSpPr>
        <p:spPr>
          <a:xfrm>
            <a:off x="659254" y="1147739"/>
            <a:ext cx="10855492" cy="2621503"/>
          </a:xfrm>
          <a:prstGeom prst="rect">
            <a:avLst/>
          </a:prstGeom>
          <a:solidFill>
            <a:schemeClr val="bg1">
              <a:lumMod val="95000"/>
            </a:schemeClr>
          </a:solidFill>
          <a:ln w="57150">
            <a:noFill/>
          </a:ln>
        </p:spPr>
        <p:txBody>
          <a:bodyPr wrap="square" lIns="0" tIns="0" rIns="0" bIns="0" rtlCol="0" anchor="ctr"/>
          <a:lstStyle/>
          <a:p>
            <a:pPr algn="ctr"/>
            <a:endParaRPr lang="ko-KR" altLang="en-US" sz="2000" dirty="0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F5E20114-386C-7ABD-05B9-820A55BDFCD2}"/>
              </a:ext>
            </a:extLst>
          </p:cNvPr>
          <p:cNvSpPr txBox="1"/>
          <p:nvPr/>
        </p:nvSpPr>
        <p:spPr>
          <a:xfrm>
            <a:off x="1055081" y="4360389"/>
            <a:ext cx="5018293" cy="1052561"/>
          </a:xfrm>
          <a:prstGeom prst="rect">
            <a:avLst/>
          </a:prstGeom>
          <a:noFill/>
        </p:spPr>
        <p:txBody>
          <a:bodyPr wrap="square" lIns="77751" tIns="38876" rIns="77751" bIns="38876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latin typeface="+mn-ea"/>
              </a:rPr>
              <a:t>2. Project</a:t>
            </a:r>
            <a:r>
              <a:rPr lang="ko-KR" altLang="en-US" sz="1600" b="1" dirty="0">
                <a:latin typeface="+mn-ea"/>
              </a:rPr>
              <a:t>의 </a:t>
            </a:r>
            <a:r>
              <a:rPr lang="en-US" altLang="ko-KR" sz="1600" b="1" dirty="0">
                <a:latin typeface="+mn-ea"/>
              </a:rPr>
              <a:t>SCM</a:t>
            </a: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+mn-ea"/>
              </a:rPr>
              <a:t>- S</a:t>
            </a:r>
            <a:r>
              <a:rPr lang="ko-KR" altLang="en-US" sz="1400" dirty="0">
                <a:latin typeface="+mn-ea"/>
              </a:rPr>
              <a:t>사의 제조 경쟁력 활용</a:t>
            </a:r>
            <a:endParaRPr lang="en-US" altLang="ko-KR" sz="1400" dirty="0">
              <a:latin typeface="+mn-ea"/>
            </a:endParaRPr>
          </a:p>
          <a:p>
            <a:pPr>
              <a:lnSpc>
                <a:spcPct val="150000"/>
              </a:lnSpc>
            </a:pPr>
            <a:r>
              <a:rPr lang="en-US" altLang="ko-KR" sz="1400" dirty="0">
                <a:latin typeface="+mn-ea"/>
              </a:rPr>
              <a:t>- </a:t>
            </a:r>
            <a:r>
              <a:rPr lang="ko-KR" altLang="en-US" sz="1400" dirty="0">
                <a:latin typeface="+mn-ea"/>
              </a:rPr>
              <a:t>㈜유비코드의 개발 경쟁력을 바탕으로 제품의 개발 및 검증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718145" cy="215444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4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14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751425" y="465285"/>
            <a:ext cx="619400" cy="184666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ko-KR" altLang="en-US" sz="1200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과제 개요</a:t>
            </a:r>
            <a:endParaRPr lang="nn-NO" altLang="ko-KR" sz="1200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9" name="TextBox 28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05980" y="230860"/>
            <a:ext cx="253275" cy="276999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01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0FF09E00-5510-C916-431D-A3434468AAC3}"/>
              </a:ext>
            </a:extLst>
          </p:cNvPr>
          <p:cNvSpPr txBox="1"/>
          <p:nvPr/>
        </p:nvSpPr>
        <p:spPr>
          <a:xfrm>
            <a:off x="1416850" y="1204783"/>
            <a:ext cx="4922166" cy="400202"/>
          </a:xfrm>
          <a:prstGeom prst="rect">
            <a:avLst/>
          </a:prstGeom>
          <a:noFill/>
        </p:spPr>
        <p:txBody>
          <a:bodyPr wrap="square" lIns="77751" tIns="38876" rIns="77751" bIns="38876" rtlCol="0">
            <a:spAutoFit/>
          </a:bodyPr>
          <a:lstStyle/>
          <a:p>
            <a:pPr>
              <a:lnSpc>
                <a:spcPct val="150000"/>
              </a:lnSpc>
            </a:pP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1. Project</a:t>
            </a:r>
            <a:r>
              <a:rPr lang="ko-KR" altLang="en-US" sz="1600" b="1" dirty="0">
                <a:solidFill>
                  <a:schemeClr val="tx1"/>
                </a:solidFill>
                <a:latin typeface="+mn-ea"/>
              </a:rPr>
              <a:t>의 개요 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: AI </a:t>
            </a:r>
            <a:r>
              <a:rPr lang="ko-KR" altLang="en-US" sz="1600" b="1" dirty="0">
                <a:solidFill>
                  <a:schemeClr val="tx1"/>
                </a:solidFill>
                <a:latin typeface="+mn-ea"/>
              </a:rPr>
              <a:t>얼굴 리더기 개발 협업</a:t>
            </a:r>
            <a:r>
              <a:rPr lang="en-US" altLang="ko-KR" sz="1600" b="1" dirty="0">
                <a:solidFill>
                  <a:schemeClr val="tx1"/>
                </a:solidFill>
                <a:latin typeface="+mn-ea"/>
              </a:rPr>
              <a:t>/</a:t>
            </a:r>
            <a:r>
              <a:rPr lang="ko-KR" altLang="en-US" sz="1600" b="1" dirty="0">
                <a:solidFill>
                  <a:schemeClr val="tx1"/>
                </a:solidFill>
                <a:latin typeface="+mn-ea"/>
              </a:rPr>
              <a:t>공급</a:t>
            </a:r>
            <a:endParaRPr lang="en-US" altLang="ko-KR" sz="1600" b="1" dirty="0">
              <a:solidFill>
                <a:schemeClr val="tx1"/>
              </a:solidFill>
              <a:latin typeface="+mn-ea"/>
            </a:endParaRPr>
          </a:p>
        </p:txBody>
      </p:sp>
      <p:sp>
        <p:nvSpPr>
          <p:cNvPr id="3" name="직사각형 2"/>
          <p:cNvSpPr/>
          <p:nvPr/>
        </p:nvSpPr>
        <p:spPr>
          <a:xfrm>
            <a:off x="1418275" y="1579239"/>
            <a:ext cx="4536859" cy="198971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en-US" altLang="ko-KR" sz="1400" dirty="0">
                <a:latin typeface="+mn-ea"/>
              </a:rPr>
              <a:t>Frame</a:t>
            </a:r>
            <a:r>
              <a:rPr lang="ko-KR" altLang="en-US" sz="1400" dirty="0">
                <a:latin typeface="+mn-ea"/>
              </a:rPr>
              <a:t>에 설치 가능한 슬림형의 좁은 외형 얼굴리더기 개발</a:t>
            </a:r>
            <a:r>
              <a:rPr lang="en-US" altLang="ko-KR" sz="1400" dirty="0">
                <a:latin typeface="+mn-ea"/>
              </a:rPr>
              <a:t>/</a:t>
            </a:r>
            <a:r>
              <a:rPr lang="ko-KR" altLang="en-US" sz="1400" dirty="0">
                <a:latin typeface="+mn-ea"/>
              </a:rPr>
              <a:t>납품</a:t>
            </a:r>
            <a:endParaRPr lang="en-US" altLang="ko-KR" sz="1400" dirty="0">
              <a:latin typeface="+mn-ea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출입문 프레임</a:t>
            </a:r>
            <a:r>
              <a:rPr lang="en-US" altLang="ko-KR" sz="1400" dirty="0">
                <a:latin typeface="+mn-ea"/>
              </a:rPr>
              <a:t>, </a:t>
            </a:r>
            <a:r>
              <a:rPr lang="ko-KR" altLang="en-US" sz="1400" dirty="0" err="1">
                <a:latin typeface="+mn-ea"/>
              </a:rPr>
              <a:t>벽부</a:t>
            </a:r>
            <a:r>
              <a:rPr lang="ko-KR" altLang="en-US" sz="1400" dirty="0">
                <a:latin typeface="+mn-ea"/>
              </a:rPr>
              <a:t> 등에 자유롭게 설치 가능한 기기</a:t>
            </a:r>
            <a:endParaRPr lang="en-US" altLang="ko-KR" sz="1400" dirty="0">
              <a:latin typeface="+mn-ea"/>
            </a:endParaRPr>
          </a:p>
          <a:p>
            <a:pPr marL="171450" indent="-171450">
              <a:lnSpc>
                <a:spcPct val="150000"/>
              </a:lnSpc>
              <a:buFont typeface="Wingdings" panose="05000000000000000000" pitchFamily="2" charset="2"/>
              <a:buChar char="§"/>
            </a:pPr>
            <a:r>
              <a:rPr lang="ko-KR" altLang="en-US" sz="1400" dirty="0">
                <a:latin typeface="+mn-ea"/>
              </a:rPr>
              <a:t>카메라</a:t>
            </a:r>
            <a:r>
              <a:rPr lang="en-US" altLang="ko-KR" sz="1400" dirty="0">
                <a:latin typeface="+mn-ea"/>
              </a:rPr>
              <a:t>(IR/RGB)</a:t>
            </a:r>
            <a:r>
              <a:rPr lang="ko-KR" altLang="en-US" sz="1400" dirty="0">
                <a:latin typeface="+mn-ea"/>
              </a:rPr>
              <a:t>와 </a:t>
            </a:r>
            <a:r>
              <a:rPr lang="en-US" altLang="ko-KR" sz="1400" dirty="0">
                <a:latin typeface="+mn-ea"/>
              </a:rPr>
              <a:t>LCD</a:t>
            </a:r>
            <a:r>
              <a:rPr lang="ko-KR" altLang="en-US" sz="1400" dirty="0">
                <a:latin typeface="+mn-ea"/>
              </a:rPr>
              <a:t>로 구성된 </a:t>
            </a:r>
            <a:r>
              <a:rPr lang="en-US" altLang="ko-KR" sz="1400" dirty="0">
                <a:latin typeface="+mn-ea"/>
              </a:rPr>
              <a:t>Bar Type</a:t>
            </a:r>
            <a:r>
              <a:rPr lang="ko-KR" altLang="en-US" sz="1400" dirty="0">
                <a:latin typeface="+mn-ea"/>
              </a:rPr>
              <a:t>의 인증기기</a:t>
            </a:r>
            <a:endParaRPr lang="en-US" altLang="ko-KR" sz="1400" dirty="0">
              <a:latin typeface="+mn-ea"/>
            </a:endParaRPr>
          </a:p>
        </p:txBody>
      </p:sp>
      <p:grpSp>
        <p:nvGrpSpPr>
          <p:cNvPr id="15" name="그룹 14"/>
          <p:cNvGrpSpPr/>
          <p:nvPr/>
        </p:nvGrpSpPr>
        <p:grpSpPr>
          <a:xfrm>
            <a:off x="8179164" y="1739772"/>
            <a:ext cx="1962852" cy="1285280"/>
            <a:chOff x="8215551" y="1435253"/>
            <a:chExt cx="2167347" cy="1419184"/>
          </a:xfrm>
        </p:grpSpPr>
        <p:pic>
          <p:nvPicPr>
            <p:cNvPr id="5" name="그림 4">
              <a:extLst>
                <a:ext uri="{FF2B5EF4-FFF2-40B4-BE49-F238E27FC236}">
                  <a16:creationId xmlns:a16="http://schemas.microsoft.com/office/drawing/2014/main" id="{6E714E26-5AF7-788C-BEFF-9F98B102286D}"/>
                </a:ext>
              </a:extLst>
            </p:cNvPr>
            <p:cNvPicPr>
              <a:picLocks noChangeAspect="1"/>
            </p:cNvPicPr>
            <p:nvPr/>
          </p:nvPicPr>
          <p:blipFill>
            <a:blip r:embed="rId2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9294563" y="1435253"/>
              <a:ext cx="1088335" cy="1417246"/>
            </a:xfrm>
            <a:prstGeom prst="rect">
              <a:avLst/>
            </a:prstGeom>
          </p:spPr>
        </p:pic>
        <p:pic>
          <p:nvPicPr>
            <p:cNvPr id="7" name="그림 6">
              <a:extLst>
                <a:ext uri="{FF2B5EF4-FFF2-40B4-BE49-F238E27FC236}">
                  <a16:creationId xmlns:a16="http://schemas.microsoft.com/office/drawing/2014/main" id="{7360FFCE-63A7-38AD-ECF6-E8477E139CF0}"/>
                </a:ext>
              </a:extLst>
            </p:cNvPr>
            <p:cNvPicPr>
              <a:picLocks noChangeAspect="1"/>
            </p:cNvPicPr>
            <p:nvPr/>
          </p:nvPicPr>
          <p:blipFill>
            <a:blip r:embed="rId3" cstate="hqprint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p:blipFill>
          <p:spPr>
            <a:xfrm>
              <a:off x="8215551" y="1436514"/>
              <a:ext cx="754271" cy="1417923"/>
            </a:xfrm>
            <a:prstGeom prst="rect">
              <a:avLst/>
            </a:prstGeom>
          </p:spPr>
        </p:pic>
      </p:grpSp>
      <p:cxnSp>
        <p:nvCxnSpPr>
          <p:cNvPr id="34" name="직선 화살표 연결선 33">
            <a:extLst>
              <a:ext uri="{FF2B5EF4-FFF2-40B4-BE49-F238E27FC236}">
                <a16:creationId xmlns:a16="http://schemas.microsoft.com/office/drawing/2014/main" id="{1FDB9F1D-DAD0-02CC-046A-F505E75A6B25}"/>
              </a:ext>
            </a:extLst>
          </p:cNvPr>
          <p:cNvCxnSpPr>
            <a:cxnSpLocks/>
          </p:cNvCxnSpPr>
          <p:nvPr/>
        </p:nvCxnSpPr>
        <p:spPr>
          <a:xfrm>
            <a:off x="6239339" y="2399774"/>
            <a:ext cx="1447800" cy="0"/>
          </a:xfrm>
          <a:prstGeom prst="straightConnector1">
            <a:avLst/>
          </a:prstGeom>
          <a:ln w="28575">
            <a:solidFill>
              <a:srgbClr val="355EE3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64337665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D17C8C-0EA2-9476-F0AA-8D45BD17A2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A4E6CBEB-8646-4FEE-0EA4-B8C0483DEF4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60562787"/>
              </p:ext>
            </p:extLst>
          </p:nvPr>
        </p:nvGraphicFramePr>
        <p:xfrm>
          <a:off x="438172" y="1297549"/>
          <a:ext cx="11314071" cy="5305855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432160">
                  <a:extLst>
                    <a:ext uri="{9D8B030D-6E8A-4147-A177-3AD203B41FA5}">
                      <a16:colId xmlns:a16="http://schemas.microsoft.com/office/drawing/2014/main" val="3731571487"/>
                    </a:ext>
                  </a:extLst>
                </a:gridCol>
                <a:gridCol w="2076634">
                  <a:extLst>
                    <a:ext uri="{9D8B030D-6E8A-4147-A177-3AD203B41FA5}">
                      <a16:colId xmlns:a16="http://schemas.microsoft.com/office/drawing/2014/main" val="3717526677"/>
                    </a:ext>
                  </a:extLst>
                </a:gridCol>
                <a:gridCol w="6731156">
                  <a:extLst>
                    <a:ext uri="{9D8B030D-6E8A-4147-A177-3AD203B41FA5}">
                      <a16:colId xmlns:a16="http://schemas.microsoft.com/office/drawing/2014/main" val="3055938665"/>
                    </a:ext>
                  </a:extLst>
                </a:gridCol>
                <a:gridCol w="1074121">
                  <a:extLst>
                    <a:ext uri="{9D8B030D-6E8A-4147-A177-3AD203B41FA5}">
                      <a16:colId xmlns:a16="http://schemas.microsoft.com/office/drawing/2014/main" val="738044975"/>
                    </a:ext>
                  </a:extLst>
                </a:gridCol>
              </a:tblGrid>
              <a:tr h="249120"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0" u="none" strike="noStrike" dirty="0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　</a:t>
                      </a:r>
                      <a:endParaRPr lang="ko-KR" altLang="en-US" sz="1400" b="0" i="0" u="none" strike="noStrike" dirty="0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4281" marR="34281" marT="25720" marB="2572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항목</a:t>
                      </a:r>
                      <a:endParaRPr lang="ko-KR" altLang="en-US" sz="1400" b="1" i="0" u="none" strike="noStrike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내용</a:t>
                      </a:r>
                      <a:endParaRPr lang="ko-KR" altLang="en-US" sz="1400" b="1" i="0" u="none" strike="noStrike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</a:rPr>
                        <a:t>비고</a:t>
                      </a:r>
                      <a:endParaRPr lang="ko-KR" altLang="en-US" sz="1400" b="1" i="0" u="none" strike="noStrike"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574117384"/>
                  </a:ext>
                </a:extLst>
              </a:tr>
              <a:tr h="265895">
                <a:tc rowSpan="6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외형 및</a:t>
                      </a:r>
                      <a:b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</a:br>
                      <a: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 환경</a:t>
                      </a:r>
                      <a:endParaRPr lang="ko-KR" altLang="en-US" sz="1400" b="1" i="0" u="none" strike="noStrike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크기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폭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(W): 59mm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높이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(H): 160mm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깊이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(D): 35mm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협의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70941120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b="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Display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sz="1400" b="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 Color/Touch LCD, 1.7"(Min)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92661313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 환경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옥외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조도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역광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 극복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(Limitation 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제시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‣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조명을 통한 암부 동작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53210840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조작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전면 </a:t>
                      </a:r>
                      <a:r>
                        <a:rPr 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Touch Screen</a:t>
                      </a:r>
                      <a:endParaRPr lang="en-US" sz="14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59852462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사용자 수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만명 권장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최소 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5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천명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5626779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사용자 관리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사용자용 스마트폰 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App,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기기설정 메뉴 제공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협의　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45267945"/>
                  </a:ext>
                </a:extLst>
              </a:tr>
              <a:tr h="227196">
                <a:tc rowSpan="2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현장</a:t>
                      </a:r>
                      <a:r>
                        <a:rPr lang="ko-KR" altLang="en-US" sz="1400" b="1" u="none" strike="noStrike" baseline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운영성</a:t>
                      </a:r>
                      <a:endParaRPr lang="ko-KR" altLang="en-US" sz="1400" b="1" i="0" u="none" strike="noStrike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시공편의성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깊이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(D) 35mm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이하 이면서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시공편의성 반영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75619921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설정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설치 </a:t>
                      </a:r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직원용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IST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설정 메뉴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89108686"/>
                  </a:ext>
                </a:extLst>
              </a:tr>
              <a:tr h="265895">
                <a:tc rowSpan="11">
                  <a:txBody>
                    <a:bodyPr/>
                    <a:lstStyle/>
                    <a:p>
                      <a:pPr algn="ctr" fontAlgn="ctr"/>
                      <a:r>
                        <a:rPr lang="ko-KR" altLang="en-US" sz="1400" b="1" u="none" strike="noStrike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</a:t>
                      </a:r>
                      <a:endParaRPr lang="ko-KR" altLang="en-US" sz="1400" b="1" i="0" u="none" strike="noStrike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성능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인식 속도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1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 이내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0.6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초 권장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인식 속도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: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최대 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1.3M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권장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chemeClr val="tx1">
                          <a:lumMod val="50000"/>
                          <a:lumOff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51096286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권장 </a:t>
                      </a:r>
                      <a:r>
                        <a:rPr 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AP 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사양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CPU + NPU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권장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* AP: A53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급 이상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NPU: 1 TOPS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이상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51199484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</a:t>
                      </a:r>
                      <a:endParaRPr 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RockChip</a:t>
                      </a:r>
                      <a:r>
                        <a:rPr lang="ko-KR" alt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에서</a:t>
                      </a:r>
                      <a:r>
                        <a:rPr lang="en-US" altLang="ko-KR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제공하는 </a:t>
                      </a:r>
                      <a:r>
                        <a:rPr lang="en-US" altLang="ko-KR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SDK</a:t>
                      </a:r>
                      <a:r>
                        <a:rPr lang="ko-KR" alt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의 </a:t>
                      </a:r>
                      <a:r>
                        <a:rPr lang="ko-KR" altLang="en-US" sz="1400" u="none" strike="noStrike" dirty="0" err="1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커널버전</a:t>
                      </a:r>
                      <a:r>
                        <a:rPr lang="ko-KR" altLang="en-US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u="none" strike="noStrike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+mn-ea"/>
                        </a:rPr>
                        <a:t>Linux-5.10</a:t>
                      </a:r>
                      <a:endParaRPr lang="en-US" altLang="ko-KR" sz="1400" b="0" i="0" u="none" strike="noStrike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37747202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얼굴등록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모바일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웹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등록용 리더 기능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매니저 메뉴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), </a:t>
                      </a:r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웹캠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매니저 메뉴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65984309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위조판별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적외선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(IR)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카메라 활용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81167490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VoIP(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옵션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인터폰 앱 구현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마이크 탑재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06636337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QR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리더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옵션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별도 지원 없음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.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45960131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통신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이더넷</a:t>
                      </a:r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BLE</a:t>
                      </a:r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70113776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RF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카드 인증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8389346"/>
                  </a:ext>
                </a:extLst>
              </a:tr>
              <a:tr h="265895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확장성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옵션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)</a:t>
                      </a:r>
                      <a:endParaRPr lang="en-US" altLang="ko-KR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endParaRPr lang="en-US" altLang="ko-KR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72886320"/>
                  </a:ext>
                </a:extLst>
              </a:tr>
              <a:tr h="227196">
                <a:tc v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전기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환경</a:t>
                      </a:r>
                      <a:r>
                        <a:rPr lang="en-US" altLang="ko-KR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u="none" strike="noStrike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특성</a:t>
                      </a:r>
                      <a:endParaRPr lang="ko-KR" altLang="en-US" sz="1400" b="0" i="0" u="none" strike="noStrike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fontAlgn="ctr"/>
                      <a:r>
                        <a:rPr lang="en-US" altLang="ko-KR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‣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u="none" strike="noStrike" dirty="0" err="1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품질 규격 따름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fontAlgn="ctr"/>
                      <a:r>
                        <a:rPr lang="ko-KR" altLang="en-US" sz="1400" u="none" strike="noStrike" dirty="0"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　</a:t>
                      </a:r>
                      <a:endParaRPr lang="ko-KR" altLang="en-US" sz="1400" b="0" i="0" u="none" strike="noStrike" dirty="0">
                        <a:solidFill>
                          <a:srgbClr val="000000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34281" marR="34281" marT="25720" marB="25720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34823860"/>
                  </a:ext>
                </a:extLst>
              </a:tr>
            </a:tbl>
          </a:graphicData>
        </a:graphic>
      </p:graphicFrame>
      <p:sp>
        <p:nvSpPr>
          <p:cNvPr id="6" name="TextBox 5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751425" y="465285"/>
            <a:ext cx="86472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ko-KR" altLang="en-US" sz="1100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고려 사항</a:t>
            </a:r>
            <a:endParaRPr lang="nn-NO" altLang="ko-KR" sz="1100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704538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0113D9-9E96-7618-F403-B122470281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8D813837-030C-781C-298E-CA57DBCD60E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027105232"/>
              </p:ext>
            </p:extLst>
          </p:nvPr>
        </p:nvGraphicFramePr>
        <p:xfrm>
          <a:off x="438172" y="1297550"/>
          <a:ext cx="11314071" cy="480043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84488">
                  <a:extLst>
                    <a:ext uri="{9D8B030D-6E8A-4147-A177-3AD203B41FA5}">
                      <a16:colId xmlns:a16="http://schemas.microsoft.com/office/drawing/2014/main" val="3177811944"/>
                    </a:ext>
                  </a:extLst>
                </a:gridCol>
                <a:gridCol w="2312908">
                  <a:extLst>
                    <a:ext uri="{9D8B030D-6E8A-4147-A177-3AD203B41FA5}">
                      <a16:colId xmlns:a16="http://schemas.microsoft.com/office/drawing/2014/main" val="2764839958"/>
                    </a:ext>
                  </a:extLst>
                </a:gridCol>
                <a:gridCol w="1358916">
                  <a:extLst>
                    <a:ext uri="{9D8B030D-6E8A-4147-A177-3AD203B41FA5}">
                      <a16:colId xmlns:a16="http://schemas.microsoft.com/office/drawing/2014/main" val="1200856570"/>
                    </a:ext>
                  </a:extLst>
                </a:gridCol>
                <a:gridCol w="1358916">
                  <a:extLst>
                    <a:ext uri="{9D8B030D-6E8A-4147-A177-3AD203B41FA5}">
                      <a16:colId xmlns:a16="http://schemas.microsoft.com/office/drawing/2014/main" val="1336391634"/>
                    </a:ext>
                  </a:extLst>
                </a:gridCol>
                <a:gridCol w="1358916">
                  <a:extLst>
                    <a:ext uri="{9D8B030D-6E8A-4147-A177-3AD203B41FA5}">
                      <a16:colId xmlns:a16="http://schemas.microsoft.com/office/drawing/2014/main" val="3548012359"/>
                    </a:ext>
                  </a:extLst>
                </a:gridCol>
                <a:gridCol w="3839927">
                  <a:extLst>
                    <a:ext uri="{9D8B030D-6E8A-4147-A177-3AD203B41FA5}">
                      <a16:colId xmlns:a16="http://schemas.microsoft.com/office/drawing/2014/main" val="3661710399"/>
                    </a:ext>
                  </a:extLst>
                </a:gridCol>
              </a:tblGrid>
              <a:tr h="419593"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Item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인텔리빅스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유비코드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제조사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비고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71309170"/>
                  </a:ext>
                </a:extLst>
              </a:tr>
              <a:tr h="303962">
                <a:tc rowSpan="7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</a:t>
                      </a:r>
                    </a:p>
                  </a:txBody>
                  <a:tcPr marL="87074" marR="87074" marT="32665" marB="32665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요구사양 정리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023663"/>
                  </a:ext>
                </a:extLst>
              </a:tr>
              <a:tr h="261318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디자인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78089050"/>
                  </a:ext>
                </a:extLst>
              </a:tr>
              <a:tr h="301283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기구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금형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금형은 협의 요청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9741058"/>
                  </a:ext>
                </a:extLst>
              </a:tr>
              <a:tr h="339713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회로 개발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ko-KR" altLang="en-US" sz="1400" dirty="0"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dk1"/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◎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협업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공동 개발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89529995"/>
                  </a:ext>
                </a:extLst>
              </a:tr>
              <a:tr h="457306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OS(Linux)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dk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◎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BSP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개발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, Device Driver</a:t>
                      </a:r>
                    </a:p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Camera Tunning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15055330"/>
                  </a:ext>
                </a:extLst>
              </a:tr>
              <a:tr h="653294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UI/UX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개발</a:t>
                      </a:r>
                      <a:endParaRPr lang="en-US" altLang="ko-KR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(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서비스 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S/W)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dk1"/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◎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추후 협의 후 별도 진행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31854802"/>
                  </a:ext>
                </a:extLst>
              </a:tr>
              <a:tr h="339713">
                <a:tc vMerge="1">
                  <a:txBody>
                    <a:bodyPr/>
                    <a:lstStyle/>
                    <a:p>
                      <a:pPr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얼굴인식 알고리즘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400" kern="1200" dirty="0">
                          <a:solidFill>
                            <a:schemeClr val="dk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◎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유비코드와 협업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01026441"/>
                  </a:ext>
                </a:extLst>
              </a:tr>
              <a:tr h="261318">
                <a:tc rowSpan="4"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제조</a:t>
                      </a:r>
                    </a:p>
                  </a:txBody>
                  <a:tcPr marL="87074" marR="87074" marT="32665" marB="32665" anchor="ctr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양산 라인 셋업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9025520"/>
                  </a:ext>
                </a:extLst>
              </a:tr>
              <a:tr h="26131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자재구매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4930132"/>
                  </a:ext>
                </a:extLst>
              </a:tr>
              <a:tr h="26131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신뢰성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각사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role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정리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28963844"/>
                  </a:ext>
                </a:extLst>
              </a:tr>
              <a:tr h="261318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8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생산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납품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20492442"/>
                  </a:ext>
                </a:extLst>
              </a:tr>
              <a:tr h="261318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A/S</a:t>
                      </a:r>
                      <a:endParaRPr lang="ko-KR" alt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4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리퍼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제품 수리</a:t>
                      </a: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13533716"/>
                  </a:ext>
                </a:extLst>
              </a:tr>
              <a:tr h="261318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인증</a:t>
                      </a:r>
                    </a:p>
                  </a:txBody>
                  <a:tcPr marL="87074" marR="87074" marT="32665" marB="32665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+mn-ea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O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KC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등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…</a:t>
                      </a:r>
                      <a:endParaRPr lang="ko-KR" alt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74" marR="87074" marT="32665" marB="32665" anchor="ctr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EAEA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768759976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751425" y="465285"/>
            <a:ext cx="864724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ko-KR" altLang="en-US" sz="1100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협업 업무 분장</a:t>
            </a:r>
            <a:endParaRPr lang="nn-NO" altLang="ko-KR" sz="1100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6884088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2" name="직사각형 171"/>
          <p:cNvSpPr/>
          <p:nvPr/>
        </p:nvSpPr>
        <p:spPr>
          <a:xfrm>
            <a:off x="8709628" y="5289931"/>
            <a:ext cx="1415124" cy="514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300" b="1">
              <a:latin typeface="맑은 고딕" panose="020B0503020000020004" pitchFamily="50" charset="-127"/>
            </a:endParaRPr>
          </a:p>
        </p:txBody>
      </p:sp>
      <p:sp>
        <p:nvSpPr>
          <p:cNvPr id="64" name="직사각형 63"/>
          <p:cNvSpPr/>
          <p:nvPr/>
        </p:nvSpPr>
        <p:spPr>
          <a:xfrm>
            <a:off x="8724592" y="2908930"/>
            <a:ext cx="1826567" cy="793356"/>
          </a:xfrm>
          <a:prstGeom prst="rect">
            <a:avLst/>
          </a:prstGeom>
          <a:solidFill>
            <a:schemeClr val="bg1">
              <a:lumMod val="95000"/>
            </a:schemeClr>
          </a:solidFill>
          <a:ln w="63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cxnSp>
        <p:nvCxnSpPr>
          <p:cNvPr id="5" name="직선 화살표 연결선 4">
            <a:extLst>
              <a:ext uri="{FF2B5EF4-FFF2-40B4-BE49-F238E27FC236}">
                <a16:creationId xmlns:a16="http://schemas.microsoft.com/office/drawing/2014/main" id="{8EB6ADAF-767A-B86C-AFA0-D382D3CA4209}"/>
              </a:ext>
            </a:extLst>
          </p:cNvPr>
          <p:cNvCxnSpPr>
            <a:cxnSpLocks/>
          </p:cNvCxnSpPr>
          <p:nvPr/>
        </p:nvCxnSpPr>
        <p:spPr>
          <a:xfrm flipV="1">
            <a:off x="6468396" y="3834976"/>
            <a:ext cx="0" cy="210234"/>
          </a:xfrm>
          <a:prstGeom prst="straightConnector1">
            <a:avLst/>
          </a:prstGeom>
          <a:ln w="28575">
            <a:solidFill>
              <a:srgbClr val="FF0000"/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TextBox 14">
            <a:extLst>
              <a:ext uri="{FF2B5EF4-FFF2-40B4-BE49-F238E27FC236}">
                <a16:creationId xmlns:a16="http://schemas.microsoft.com/office/drawing/2014/main" id="{1D787A7E-DF8D-561D-0795-861C7190AA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124752" y="2176817"/>
            <a:ext cx="1196834" cy="401677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050" dirty="0">
                <a:solidFill>
                  <a:srgbClr val="333333"/>
                </a:solidFill>
                <a:latin typeface="맑은 고딕" panose="020B0503020000020004" pitchFamily="50" charset="-127"/>
              </a:rPr>
              <a:t>2.4” LCD Display with Touch</a:t>
            </a:r>
            <a:endParaRPr lang="en-US" altLang="en-US" sz="1050" dirty="0">
              <a:solidFill>
                <a:srgbClr val="FFFF00"/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9" name="그룹 8">
            <a:extLst>
              <a:ext uri="{FF2B5EF4-FFF2-40B4-BE49-F238E27FC236}">
                <a16:creationId xmlns:a16="http://schemas.microsoft.com/office/drawing/2014/main" id="{F25D8D8F-974F-8784-383A-71AE93D54751}"/>
              </a:ext>
            </a:extLst>
          </p:cNvPr>
          <p:cNvGrpSpPr/>
          <p:nvPr/>
        </p:nvGrpSpPr>
        <p:grpSpPr>
          <a:xfrm>
            <a:off x="8721432" y="2050493"/>
            <a:ext cx="1392386" cy="607340"/>
            <a:chOff x="6746875" y="2160588"/>
            <a:chExt cx="1538288" cy="944562"/>
          </a:xfrm>
        </p:grpSpPr>
        <p:pic>
          <p:nvPicPr>
            <p:cNvPr id="59" name="그림 8">
              <a:extLst>
                <a:ext uri="{FF2B5EF4-FFF2-40B4-BE49-F238E27FC236}">
                  <a16:creationId xmlns:a16="http://schemas.microsoft.com/office/drawing/2014/main" id="{476A9160-6E4B-E7A8-2D4E-F345C616ED3D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2" cstate="screen"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6746875" y="2160588"/>
              <a:ext cx="1538288" cy="94456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sp>
          <p:nvSpPr>
            <p:cNvPr id="60" name="직사각형 59">
              <a:extLst>
                <a:ext uri="{FF2B5EF4-FFF2-40B4-BE49-F238E27FC236}">
                  <a16:creationId xmlns:a16="http://schemas.microsoft.com/office/drawing/2014/main" id="{D6D8F2E7-E990-D479-CA17-F47731C50A4B}"/>
                </a:ext>
              </a:extLst>
            </p:cNvPr>
            <p:cNvSpPr/>
            <p:nvPr/>
          </p:nvSpPr>
          <p:spPr>
            <a:xfrm>
              <a:off x="7878444" y="2416175"/>
              <a:ext cx="271781" cy="246063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bg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>
                <a:latin typeface="맑은 고딕" panose="020B0503020000020004" pitchFamily="50" charset="-127"/>
              </a:endParaRPr>
            </a:p>
          </p:txBody>
        </p:sp>
      </p:grpSp>
      <p:sp>
        <p:nvSpPr>
          <p:cNvPr id="12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87231" y="5428428"/>
            <a:ext cx="991254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 dirty="0">
                <a:latin typeface="맑은 고딕" panose="020B0503020000020004" pitchFamily="50" charset="-127"/>
              </a:rPr>
              <a:t>Ext. MIC</a:t>
            </a:r>
          </a:p>
        </p:txBody>
      </p:sp>
      <p:sp>
        <p:nvSpPr>
          <p:cNvPr id="22" name="사각형: 둥근 모서리 21">
            <a:extLst>
              <a:ext uri="{FF2B5EF4-FFF2-40B4-BE49-F238E27FC236}">
                <a16:creationId xmlns:a16="http://schemas.microsoft.com/office/drawing/2014/main" id="{26218B4A-D30C-2F2A-33AB-C743F45044A1}"/>
              </a:ext>
            </a:extLst>
          </p:cNvPr>
          <p:cNvSpPr/>
          <p:nvPr/>
        </p:nvSpPr>
        <p:spPr>
          <a:xfrm>
            <a:off x="5217931" y="1275784"/>
            <a:ext cx="2019188" cy="2826738"/>
          </a:xfrm>
          <a:prstGeom prst="roundRect">
            <a:avLst/>
          </a:prstGeom>
          <a:solidFill>
            <a:srgbClr val="355EE3"/>
          </a:solidFill>
          <a:ln w="12700">
            <a:solidFill>
              <a:schemeClr val="bg1"/>
            </a:solidFill>
          </a:ln>
        </p:spPr>
        <p:style>
          <a:lnRef idx="3">
            <a:schemeClr val="lt1"/>
          </a:lnRef>
          <a:fillRef idx="1">
            <a:schemeClr val="accent2"/>
          </a:fillRef>
          <a:effectRef idx="1">
            <a:schemeClr val="accent2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endParaRPr lang="en-US" sz="1000">
              <a:latin typeface="맑은 고딕" panose="020B0503020000020004" pitchFamily="50" charset="-127"/>
            </a:endParaRPr>
          </a:p>
        </p:txBody>
      </p:sp>
      <p:sp>
        <p:nvSpPr>
          <p:cNvPr id="23" name="TextBox 3">
            <a:extLst>
              <a:ext uri="{FF2B5EF4-FFF2-40B4-BE49-F238E27FC236}">
                <a16:creationId xmlns:a16="http://schemas.microsoft.com/office/drawing/2014/main" id="{66EDDBE6-EECC-860C-6364-582DFC18F79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523975" y="1737191"/>
            <a:ext cx="1406824" cy="55399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500" b="1" dirty="0">
                <a:solidFill>
                  <a:schemeClr val="bg1"/>
                </a:solidFill>
                <a:latin typeface="맑은 고딕" panose="020B0503020000020004" pitchFamily="50" charset="-127"/>
              </a:rPr>
              <a:t>Application Processor</a:t>
            </a:r>
          </a:p>
        </p:txBody>
      </p:sp>
      <p:sp>
        <p:nvSpPr>
          <p:cNvPr id="25" name="TextBox 7">
            <a:extLst>
              <a:ext uri="{FF2B5EF4-FFF2-40B4-BE49-F238E27FC236}">
                <a16:creationId xmlns:a16="http://schemas.microsoft.com/office/drawing/2014/main" id="{E513A8A9-D2C7-D169-B9EA-F18C5E109B3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5445495" y="2427480"/>
            <a:ext cx="1563785" cy="58477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b="1" dirty="0">
                <a:solidFill>
                  <a:srgbClr val="FFFF00"/>
                </a:solidFill>
                <a:latin typeface="맑은 고딕" panose="020B0503020000020004" pitchFamily="50" charset="-127"/>
              </a:rPr>
              <a:t>Rockchip</a:t>
            </a:r>
          </a:p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600" b="1" dirty="0">
                <a:solidFill>
                  <a:srgbClr val="FFFF00"/>
                </a:solidFill>
                <a:latin typeface="맑은 고딕" panose="020B0503020000020004" pitchFamily="50" charset="-127"/>
              </a:rPr>
              <a:t>RK3568J</a:t>
            </a:r>
          </a:p>
        </p:txBody>
      </p:sp>
      <p:grpSp>
        <p:nvGrpSpPr>
          <p:cNvPr id="115" name="그룹 114"/>
          <p:cNvGrpSpPr/>
          <p:nvPr/>
        </p:nvGrpSpPr>
        <p:grpSpPr>
          <a:xfrm>
            <a:off x="8951991" y="2945951"/>
            <a:ext cx="1428710" cy="719313"/>
            <a:chOff x="8657978" y="2905610"/>
            <a:chExt cx="1607354" cy="809254"/>
          </a:xfrm>
        </p:grpSpPr>
        <p:pic>
          <p:nvPicPr>
            <p:cNvPr id="31" name="그림 17">
              <a:extLst>
                <a:ext uri="{FF2B5EF4-FFF2-40B4-BE49-F238E27FC236}">
                  <a16:creationId xmlns:a16="http://schemas.microsoft.com/office/drawing/2014/main" id="{737E4677-DECA-05C4-FFA4-FCCD03BA7022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 rot="5899876">
              <a:off x="9451842" y="2901375"/>
              <a:ext cx="774359" cy="85262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  <p:pic>
          <p:nvPicPr>
            <p:cNvPr id="32" name="그림 21">
              <a:extLst>
                <a:ext uri="{FF2B5EF4-FFF2-40B4-BE49-F238E27FC236}">
                  <a16:creationId xmlns:a16="http://schemas.microsoft.com/office/drawing/2014/main" id="{FD3BDFA7-92E5-FDFD-487C-092D7CD59045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 cstate="screen">
              <a:clrChange>
                <a:clrFrom>
                  <a:srgbClr val="FFFFFF"/>
                </a:clrFrom>
                <a:clrTo>
                  <a:srgbClr val="FFFFFF">
                    <a:alpha val="0"/>
                  </a:srgbClr>
                </a:clrTo>
              </a:clrChange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p:blipFill>
          <p:spPr bwMode="auto">
            <a:xfrm rot="5899876">
              <a:off x="8696139" y="2867449"/>
              <a:ext cx="774359" cy="850682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</p:pic>
      </p:grpSp>
      <p:sp>
        <p:nvSpPr>
          <p:cNvPr id="34" name="TextBox 23">
            <a:extLst>
              <a:ext uri="{FF2B5EF4-FFF2-40B4-BE49-F238E27FC236}">
                <a16:creationId xmlns:a16="http://schemas.microsoft.com/office/drawing/2014/main" id="{73453BFE-CFC9-C075-1EB3-44A7596A12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3877" y="2078784"/>
            <a:ext cx="13176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dirty="0">
                <a:latin typeface="맑은 고딕" panose="020B0503020000020004" pitchFamily="50" charset="-127"/>
              </a:rPr>
              <a:t>MIPI-DSI</a:t>
            </a:r>
          </a:p>
        </p:txBody>
      </p:sp>
      <p:sp>
        <p:nvSpPr>
          <p:cNvPr id="46" name="TextBox 45">
            <a:extLst>
              <a:ext uri="{FF2B5EF4-FFF2-40B4-BE49-F238E27FC236}">
                <a16:creationId xmlns:a16="http://schemas.microsoft.com/office/drawing/2014/main" id="{091D5681-1537-02B0-611F-5C4A682A7002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412171" y="3836679"/>
            <a:ext cx="1123909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dirty="0">
                <a:latin typeface="맑은 고딕" panose="020B0503020000020004" pitchFamily="50" charset="-127"/>
              </a:rPr>
              <a:t>UART</a:t>
            </a:r>
          </a:p>
        </p:txBody>
      </p:sp>
      <p:sp>
        <p:nvSpPr>
          <p:cNvPr id="54" name="TextBox 58">
            <a:extLst>
              <a:ext uri="{FF2B5EF4-FFF2-40B4-BE49-F238E27FC236}">
                <a16:creationId xmlns:a16="http://schemas.microsoft.com/office/drawing/2014/main" id="{0F1CED67-3F91-B341-2291-28C403DD3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81431" y="3823660"/>
            <a:ext cx="13176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dirty="0">
                <a:latin typeface="맑은 고딕" panose="020B0503020000020004" pitchFamily="50" charset="-127"/>
              </a:rPr>
              <a:t>SPI &amp; UART</a:t>
            </a:r>
          </a:p>
        </p:txBody>
      </p:sp>
      <p:sp>
        <p:nvSpPr>
          <p:cNvPr id="57" name="사각형: 둥근 모서리 56">
            <a:extLst>
              <a:ext uri="{FF2B5EF4-FFF2-40B4-BE49-F238E27FC236}">
                <a16:creationId xmlns:a16="http://schemas.microsoft.com/office/drawing/2014/main" id="{33A7949D-13E7-045E-6BEB-DC1AAC9437E9}"/>
              </a:ext>
            </a:extLst>
          </p:cNvPr>
          <p:cNvSpPr/>
          <p:nvPr/>
        </p:nvSpPr>
        <p:spPr>
          <a:xfrm>
            <a:off x="5656359" y="5401623"/>
            <a:ext cx="1133286" cy="834838"/>
          </a:xfrm>
          <a:prstGeom prst="roundRect">
            <a:avLst>
              <a:gd name="adj" fmla="val 0"/>
            </a:avLst>
          </a:prstGeom>
          <a:solidFill>
            <a:schemeClr val="bg1">
              <a:lumMod val="85000"/>
            </a:schemeClr>
          </a:solidFill>
          <a:ln/>
          <a:effectLst/>
        </p:spPr>
        <p:style>
          <a:lnRef idx="0">
            <a:schemeClr val="accent5"/>
          </a:lnRef>
          <a:fillRef idx="3">
            <a:schemeClr val="accent5"/>
          </a:fillRef>
          <a:effectRef idx="3">
            <a:schemeClr val="accent5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pt-BR" sz="1100" b="1" dirty="0">
                <a:solidFill>
                  <a:srgbClr val="1350BD"/>
                </a:solidFill>
                <a:latin typeface="맑은 고딕" panose="020B0503020000020004" pitchFamily="50" charset="-127"/>
              </a:rPr>
              <a:t>PMIC</a:t>
            </a:r>
          </a:p>
          <a:p>
            <a:pPr algn="ctr">
              <a:defRPr/>
            </a:pPr>
            <a:r>
              <a:rPr lang="pt-BR" sz="1100" b="1" dirty="0">
                <a:solidFill>
                  <a:srgbClr val="1350BD"/>
                </a:solidFill>
                <a:latin typeface="맑은 고딕" panose="020B0503020000020004" pitchFamily="50" charset="-127"/>
              </a:rPr>
              <a:t> (</a:t>
            </a:r>
            <a:r>
              <a:rPr lang="en-US" sz="1100" b="1" dirty="0">
                <a:solidFill>
                  <a:srgbClr val="1350BD"/>
                </a:solidFill>
                <a:latin typeface="맑은 고딕" panose="020B0503020000020004" pitchFamily="50" charset="-127"/>
              </a:rPr>
              <a:t>RK808-2)</a:t>
            </a:r>
          </a:p>
        </p:txBody>
      </p:sp>
      <p:sp>
        <p:nvSpPr>
          <p:cNvPr id="49" name="TextBox 52">
            <a:extLst>
              <a:ext uri="{FF2B5EF4-FFF2-40B4-BE49-F238E27FC236}">
                <a16:creationId xmlns:a16="http://schemas.microsoft.com/office/drawing/2014/main" id="{47A2EC35-4C61-3AE1-1480-186279ABD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06729" y="1406421"/>
            <a:ext cx="154995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NFC Antenna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sp>
        <p:nvSpPr>
          <p:cNvPr id="66" name="TextBox 52">
            <a:extLst>
              <a:ext uri="{FF2B5EF4-FFF2-40B4-BE49-F238E27FC236}">
                <a16:creationId xmlns:a16="http://schemas.microsoft.com/office/drawing/2014/main" id="{47A2EC35-4C61-3AE1-1480-186279ABD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5226" y="1391301"/>
            <a:ext cx="493702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I2C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grpSp>
        <p:nvGrpSpPr>
          <p:cNvPr id="2" name="그룹 1"/>
          <p:cNvGrpSpPr/>
          <p:nvPr/>
        </p:nvGrpSpPr>
        <p:grpSpPr>
          <a:xfrm>
            <a:off x="3154894" y="1618134"/>
            <a:ext cx="2028853" cy="45728"/>
            <a:chOff x="2647538" y="6369588"/>
            <a:chExt cx="2028853" cy="45728"/>
          </a:xfrm>
        </p:grpSpPr>
        <p:cxnSp>
          <p:nvCxnSpPr>
            <p:cNvPr id="68" name="직선 화살표 연결선 67"/>
            <p:cNvCxnSpPr/>
            <p:nvPr/>
          </p:nvCxnSpPr>
          <p:spPr>
            <a:xfrm>
              <a:off x="2647538" y="6392452"/>
              <a:ext cx="2028853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69" name="타원 68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71" name="직선 화살표 연결선 70"/>
          <p:cNvCxnSpPr/>
          <p:nvPr/>
        </p:nvCxnSpPr>
        <p:spPr>
          <a:xfrm>
            <a:off x="856467" y="1641616"/>
            <a:ext cx="1425382" cy="0"/>
          </a:xfrm>
          <a:prstGeom prst="straightConnector1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026" name="Picture 2" descr="wifi 신호 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664329" y="1172517"/>
            <a:ext cx="401098" cy="40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73" name="직선 화살표 연결선 72"/>
          <p:cNvCxnSpPr/>
          <p:nvPr/>
        </p:nvCxnSpPr>
        <p:spPr>
          <a:xfrm>
            <a:off x="862819" y="1490663"/>
            <a:ext cx="0" cy="150335"/>
          </a:xfrm>
          <a:prstGeom prst="straightConnector1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직사각형 62"/>
          <p:cNvSpPr/>
          <p:nvPr/>
        </p:nvSpPr>
        <p:spPr>
          <a:xfrm>
            <a:off x="2241940" y="1431502"/>
            <a:ext cx="1184284" cy="417287"/>
          </a:xfrm>
          <a:prstGeom prst="rect">
            <a:avLst/>
          </a:prstGeom>
          <a:solidFill>
            <a:srgbClr val="2696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latin typeface="맑은 고딕" panose="020B0503020000020004" pitchFamily="50" charset="-127"/>
                <a:ea typeface="맑은 고딕" panose="020B0503020000020004" pitchFamily="50" charset="-127"/>
              </a:rPr>
              <a:t>NFC</a:t>
            </a:r>
            <a:endParaRPr lang="ko-KR" altLang="en-US" sz="13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8" name="직사각형 77"/>
          <p:cNvSpPr/>
          <p:nvPr/>
        </p:nvSpPr>
        <p:spPr>
          <a:xfrm>
            <a:off x="5635245" y="3360377"/>
            <a:ext cx="1184284" cy="417287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solidFill>
                  <a:srgbClr val="2A48A6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NFC</a:t>
            </a:r>
            <a:endParaRPr lang="ko-KR" altLang="en-US" sz="1300" b="1" dirty="0">
              <a:solidFill>
                <a:srgbClr val="2A48A6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79" name="TextBox 52">
            <a:extLst>
              <a:ext uri="{FF2B5EF4-FFF2-40B4-BE49-F238E27FC236}">
                <a16:creationId xmlns:a16="http://schemas.microsoft.com/office/drawing/2014/main" id="{47A2EC35-4C61-3AE1-1480-186279ABD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234541" y="1393530"/>
            <a:ext cx="1537456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UART/SPI</a:t>
            </a:r>
            <a:endParaRPr lang="en-US" altLang="en-US" sz="1050" dirty="0">
              <a:latin typeface="맑은 고딕" panose="020B0503020000020004" pitchFamily="50" charset="-127"/>
            </a:endParaRPr>
          </a:p>
        </p:txBody>
      </p:sp>
      <p:grpSp>
        <p:nvGrpSpPr>
          <p:cNvPr id="80" name="그룹 79"/>
          <p:cNvGrpSpPr/>
          <p:nvPr/>
        </p:nvGrpSpPr>
        <p:grpSpPr>
          <a:xfrm>
            <a:off x="7322067" y="1618134"/>
            <a:ext cx="1339205" cy="45728"/>
            <a:chOff x="3156379" y="6369588"/>
            <a:chExt cx="1339205" cy="45728"/>
          </a:xfrm>
        </p:grpSpPr>
        <p:cxnSp>
          <p:nvCxnSpPr>
            <p:cNvPr id="81" name="직선 화살표 연결선 80"/>
            <p:cNvCxnSpPr/>
            <p:nvPr/>
          </p:nvCxnSpPr>
          <p:spPr>
            <a:xfrm>
              <a:off x="3156379" y="6392452"/>
              <a:ext cx="133920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82" name="타원 81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89" name="TextBox 52">
            <a:extLst>
              <a:ext uri="{FF2B5EF4-FFF2-40B4-BE49-F238E27FC236}">
                <a16:creationId xmlns:a16="http://schemas.microsoft.com/office/drawing/2014/main" id="{47A2EC35-4C61-3AE1-1480-186279ABD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948194" y="1391849"/>
            <a:ext cx="1549950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BT Antenna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cxnSp>
        <p:nvCxnSpPr>
          <p:cNvPr id="90" name="직선 화살표 연결선 89"/>
          <p:cNvCxnSpPr/>
          <p:nvPr/>
        </p:nvCxnSpPr>
        <p:spPr>
          <a:xfrm flipH="1">
            <a:off x="10113818" y="1641616"/>
            <a:ext cx="1182760" cy="0"/>
          </a:xfrm>
          <a:prstGeom prst="straightConnector1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1" name="Picture 2" descr="wifi 신호 "/>
          <p:cNvPicPr>
            <a:picLocks noChangeAspect="1" noChangeArrowheads="1"/>
          </p:cNvPicPr>
          <p:nvPr/>
        </p:nvPicPr>
        <p:blipFill>
          <a:blip r:embed="rId4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11104440" y="1172517"/>
            <a:ext cx="401098" cy="40109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cxnSp>
        <p:nvCxnSpPr>
          <p:cNvPr id="92" name="직선 화살표 연결선 91"/>
          <p:cNvCxnSpPr/>
          <p:nvPr/>
        </p:nvCxnSpPr>
        <p:spPr>
          <a:xfrm>
            <a:off x="11302930" y="1490663"/>
            <a:ext cx="0" cy="150335"/>
          </a:xfrm>
          <a:prstGeom prst="straightConnector1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none" w="med" len="med"/>
            <a:tailEnd type="non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94" name="직사각형 93"/>
          <p:cNvSpPr/>
          <p:nvPr/>
        </p:nvSpPr>
        <p:spPr>
          <a:xfrm>
            <a:off x="8721432" y="1431502"/>
            <a:ext cx="1392386" cy="417287"/>
          </a:xfrm>
          <a:prstGeom prst="rect">
            <a:avLst/>
          </a:prstGeom>
          <a:solidFill>
            <a:srgbClr val="2A4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latin typeface="맑은 고딕" panose="020B0503020000020004" pitchFamily="50" charset="-127"/>
                <a:ea typeface="맑은 고딕" panose="020B0503020000020004" pitchFamily="50" charset="-127"/>
              </a:rPr>
              <a:t>BLE</a:t>
            </a:r>
            <a:endParaRPr lang="ko-KR" altLang="en-US" sz="1300" b="1" dirty="0"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grpSp>
        <p:nvGrpSpPr>
          <p:cNvPr id="106" name="그룹 105"/>
          <p:cNvGrpSpPr/>
          <p:nvPr/>
        </p:nvGrpSpPr>
        <p:grpSpPr>
          <a:xfrm>
            <a:off x="7322067" y="2331927"/>
            <a:ext cx="1339205" cy="45728"/>
            <a:chOff x="3156379" y="6369588"/>
            <a:chExt cx="1339205" cy="45728"/>
          </a:xfrm>
        </p:grpSpPr>
        <p:cxnSp>
          <p:nvCxnSpPr>
            <p:cNvPr id="107" name="직선 화살표 연결선 106"/>
            <p:cNvCxnSpPr/>
            <p:nvPr/>
          </p:nvCxnSpPr>
          <p:spPr>
            <a:xfrm>
              <a:off x="3156379" y="6392452"/>
              <a:ext cx="133920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08" name="타원 107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09" name="그룹 108"/>
          <p:cNvGrpSpPr/>
          <p:nvPr/>
        </p:nvGrpSpPr>
        <p:grpSpPr>
          <a:xfrm>
            <a:off x="3460408" y="2331927"/>
            <a:ext cx="1720493" cy="45728"/>
            <a:chOff x="2775091" y="6369588"/>
            <a:chExt cx="1720493" cy="45728"/>
          </a:xfrm>
        </p:grpSpPr>
        <p:cxnSp>
          <p:nvCxnSpPr>
            <p:cNvPr id="110" name="직선 화살표 연결선 109"/>
            <p:cNvCxnSpPr/>
            <p:nvPr/>
          </p:nvCxnSpPr>
          <p:spPr>
            <a:xfrm>
              <a:off x="2775091" y="6392452"/>
              <a:ext cx="1720493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1" name="타원 110"/>
            <p:cNvSpPr/>
            <p:nvPr/>
          </p:nvSpPr>
          <p:spPr>
            <a:xfrm flipH="1">
              <a:off x="3623169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2" name="TextBox 23">
            <a:extLst>
              <a:ext uri="{FF2B5EF4-FFF2-40B4-BE49-F238E27FC236}">
                <a16:creationId xmlns:a16="http://schemas.microsoft.com/office/drawing/2014/main" id="{73453BFE-CFC9-C075-1EB3-44A7596A12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49642" y="2078784"/>
            <a:ext cx="13176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MII/MDC/MDIO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sp>
        <p:nvSpPr>
          <p:cNvPr id="114" name="직사각형 113"/>
          <p:cNvSpPr/>
          <p:nvPr/>
        </p:nvSpPr>
        <p:spPr>
          <a:xfrm>
            <a:off x="1757680" y="2022954"/>
            <a:ext cx="1668544" cy="634880"/>
          </a:xfrm>
          <a:prstGeom prst="rect">
            <a:avLst/>
          </a:prstGeom>
          <a:solidFill>
            <a:srgbClr val="2696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/>
            </a:pPr>
            <a:r>
              <a:rPr lang="pt-BR" altLang="ko-KR" sz="1300">
                <a:solidFill>
                  <a:schemeClr val="bg1"/>
                </a:solidFill>
                <a:latin typeface="맑은 고딕" panose="020B0503020000020004" pitchFamily="50" charset="-127"/>
              </a:rPr>
              <a:t>Ethernet PHY</a:t>
            </a:r>
          </a:p>
          <a:p>
            <a:pPr algn="ctr">
              <a:defRPr/>
            </a:pPr>
            <a:r>
              <a:rPr lang="pt-BR" altLang="ko-KR" sz="1300">
                <a:solidFill>
                  <a:schemeClr val="bg1"/>
                </a:solidFill>
                <a:latin typeface="맑은 고딕" panose="020B0503020000020004" pitchFamily="50" charset="-127"/>
              </a:rPr>
              <a:t>(</a:t>
            </a:r>
            <a:r>
              <a:rPr lang="en-US" altLang="ko-KR" sz="1300">
                <a:solidFill>
                  <a:schemeClr val="bg1"/>
                </a:solidFill>
                <a:latin typeface="맑은 고딕" panose="020B0503020000020004" pitchFamily="50" charset="-127"/>
              </a:rPr>
              <a:t>RTL8201F-VB-CG)</a:t>
            </a:r>
            <a:endParaRPr lang="en-US" altLang="ko-KR" sz="1300" dirty="0">
              <a:solidFill>
                <a:schemeClr val="bg1"/>
              </a:solidFill>
              <a:latin typeface="맑은 고딕" panose="020B0503020000020004" pitchFamily="50" charset="-127"/>
            </a:endParaRPr>
          </a:p>
        </p:txBody>
      </p:sp>
      <p:grpSp>
        <p:nvGrpSpPr>
          <p:cNvPr id="116" name="그룹 115"/>
          <p:cNvGrpSpPr/>
          <p:nvPr/>
        </p:nvGrpSpPr>
        <p:grpSpPr>
          <a:xfrm>
            <a:off x="3460408" y="3263875"/>
            <a:ext cx="1720493" cy="45728"/>
            <a:chOff x="2775091" y="6369588"/>
            <a:chExt cx="1720493" cy="45728"/>
          </a:xfrm>
        </p:grpSpPr>
        <p:cxnSp>
          <p:nvCxnSpPr>
            <p:cNvPr id="117" name="직선 화살표 연결선 116"/>
            <p:cNvCxnSpPr/>
            <p:nvPr/>
          </p:nvCxnSpPr>
          <p:spPr>
            <a:xfrm>
              <a:off x="2775091" y="6392452"/>
              <a:ext cx="1720493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18" name="타원 117"/>
            <p:cNvSpPr/>
            <p:nvPr/>
          </p:nvSpPr>
          <p:spPr>
            <a:xfrm flipH="1">
              <a:off x="3623169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19" name="TextBox 52">
            <a:extLst>
              <a:ext uri="{FF2B5EF4-FFF2-40B4-BE49-F238E27FC236}">
                <a16:creationId xmlns:a16="http://schemas.microsoft.com/office/drawing/2014/main" id="{47A2EC35-4C61-3AE1-1480-186279ABDD6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4075226" y="3014020"/>
            <a:ext cx="493702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I2C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sp>
        <p:nvSpPr>
          <p:cNvPr id="120" name="직사각형 119"/>
          <p:cNvSpPr/>
          <p:nvPr/>
        </p:nvSpPr>
        <p:spPr>
          <a:xfrm>
            <a:off x="2241940" y="2891383"/>
            <a:ext cx="1184284" cy="557948"/>
          </a:xfrm>
          <a:prstGeom prst="rect">
            <a:avLst/>
          </a:prstGeom>
          <a:solidFill>
            <a:srgbClr val="2696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RTC</a:t>
            </a:r>
          </a:p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(Optional)</a:t>
            </a:r>
          </a:p>
        </p:txBody>
      </p:sp>
      <p:sp>
        <p:nvSpPr>
          <p:cNvPr id="121" name="TextBox 23">
            <a:extLst>
              <a:ext uri="{FF2B5EF4-FFF2-40B4-BE49-F238E27FC236}">
                <a16:creationId xmlns:a16="http://schemas.microsoft.com/office/drawing/2014/main" id="{73453BFE-CFC9-C075-1EB3-44A7596A1274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7333877" y="3030476"/>
            <a:ext cx="13176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2x MIPI-CSI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grpSp>
        <p:nvGrpSpPr>
          <p:cNvPr id="122" name="그룹 121"/>
          <p:cNvGrpSpPr/>
          <p:nvPr/>
        </p:nvGrpSpPr>
        <p:grpSpPr>
          <a:xfrm>
            <a:off x="7322067" y="3283619"/>
            <a:ext cx="1339205" cy="45728"/>
            <a:chOff x="3156379" y="6369588"/>
            <a:chExt cx="1339205" cy="45728"/>
          </a:xfrm>
        </p:grpSpPr>
        <p:cxnSp>
          <p:nvCxnSpPr>
            <p:cNvPr id="123" name="직선 화살표 연결선 122"/>
            <p:cNvCxnSpPr/>
            <p:nvPr/>
          </p:nvCxnSpPr>
          <p:spPr>
            <a:xfrm>
              <a:off x="3156379" y="6392452"/>
              <a:ext cx="133920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4" name="타원 123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4" name="TextBox 36">
            <a:extLst>
              <a:ext uri="{FF2B5EF4-FFF2-40B4-BE49-F238E27FC236}">
                <a16:creationId xmlns:a16="http://schemas.microsoft.com/office/drawing/2014/main" id="{2089D0CF-3C57-A55A-C1DC-12972774218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0027710" y="3404599"/>
            <a:ext cx="474214" cy="23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0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IR</a:t>
            </a:r>
          </a:p>
        </p:txBody>
      </p:sp>
      <p:sp>
        <p:nvSpPr>
          <p:cNvPr id="10" name="TextBox 36">
            <a:extLst>
              <a:ext uri="{FF2B5EF4-FFF2-40B4-BE49-F238E27FC236}">
                <a16:creationId xmlns:a16="http://schemas.microsoft.com/office/drawing/2014/main" id="{9C832646-2386-F014-6942-FEB14F03F97B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714884" y="2966745"/>
            <a:ext cx="474214" cy="2324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0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VIS</a:t>
            </a:r>
          </a:p>
        </p:txBody>
      </p:sp>
      <p:sp>
        <p:nvSpPr>
          <p:cNvPr id="126" name="직사각형 125"/>
          <p:cNvSpPr/>
          <p:nvPr/>
        </p:nvSpPr>
        <p:spPr>
          <a:xfrm>
            <a:off x="1417954" y="3698206"/>
            <a:ext cx="2008270" cy="742798"/>
          </a:xfrm>
          <a:prstGeom prst="rect">
            <a:avLst/>
          </a:prstGeom>
          <a:solidFill>
            <a:srgbClr val="2696F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S1-RS422</a:t>
            </a:r>
          </a:p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SUB-MCU</a:t>
            </a:r>
          </a:p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(STM32C011J4M6)</a:t>
            </a:r>
          </a:p>
        </p:txBody>
      </p:sp>
      <p:grpSp>
        <p:nvGrpSpPr>
          <p:cNvPr id="127" name="그룹 126"/>
          <p:cNvGrpSpPr/>
          <p:nvPr/>
        </p:nvGrpSpPr>
        <p:grpSpPr>
          <a:xfrm>
            <a:off x="3460408" y="4069605"/>
            <a:ext cx="1720493" cy="45728"/>
            <a:chOff x="2775091" y="6369588"/>
            <a:chExt cx="1720493" cy="45728"/>
          </a:xfrm>
        </p:grpSpPr>
        <p:cxnSp>
          <p:nvCxnSpPr>
            <p:cNvPr id="128" name="직선 화살표 연결선 127"/>
            <p:cNvCxnSpPr/>
            <p:nvPr/>
          </p:nvCxnSpPr>
          <p:spPr>
            <a:xfrm>
              <a:off x="2775091" y="6392452"/>
              <a:ext cx="1720493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29" name="타원 128"/>
            <p:cNvSpPr/>
            <p:nvPr/>
          </p:nvSpPr>
          <p:spPr>
            <a:xfrm flipH="1">
              <a:off x="3623169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130" name="그룹 129"/>
          <p:cNvGrpSpPr/>
          <p:nvPr/>
        </p:nvGrpSpPr>
        <p:grpSpPr>
          <a:xfrm>
            <a:off x="7322067" y="4068768"/>
            <a:ext cx="1339205" cy="45728"/>
            <a:chOff x="3156379" y="6369588"/>
            <a:chExt cx="1339205" cy="45728"/>
          </a:xfrm>
        </p:grpSpPr>
        <p:cxnSp>
          <p:nvCxnSpPr>
            <p:cNvPr id="131" name="직선 화살표 연결선 130"/>
            <p:cNvCxnSpPr/>
            <p:nvPr/>
          </p:nvCxnSpPr>
          <p:spPr>
            <a:xfrm>
              <a:off x="3156379" y="6392452"/>
              <a:ext cx="133920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32" name="타원 131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33" name="직사각형 132"/>
          <p:cNvSpPr/>
          <p:nvPr/>
        </p:nvSpPr>
        <p:spPr>
          <a:xfrm>
            <a:off x="8721432" y="3916457"/>
            <a:ext cx="1392386" cy="417287"/>
          </a:xfrm>
          <a:prstGeom prst="rect">
            <a:avLst/>
          </a:prstGeom>
          <a:solidFill>
            <a:srgbClr val="2A48A6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300" b="1">
                <a:latin typeface="맑은 고딕" panose="020B0503020000020004" pitchFamily="50" charset="-127"/>
              </a:rPr>
              <a:t>Debug Port</a:t>
            </a:r>
          </a:p>
        </p:txBody>
      </p:sp>
      <p:sp>
        <p:nvSpPr>
          <p:cNvPr id="134" name="직사각형 133"/>
          <p:cNvSpPr/>
          <p:nvPr/>
        </p:nvSpPr>
        <p:spPr>
          <a:xfrm>
            <a:off x="6406566" y="4623690"/>
            <a:ext cx="987396" cy="41728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>
                <a:latin typeface="맑은 고딕" panose="020B0503020000020004" pitchFamily="50" charset="-127"/>
              </a:rPr>
              <a:t>DRAM I/F</a:t>
            </a:r>
          </a:p>
          <a:p>
            <a:pPr algn="ctr"/>
            <a:r>
              <a:rPr lang="en-US" altLang="ko-KR" sz="1100" b="1">
                <a:latin typeface="맑은 고딕" panose="020B0503020000020004" pitchFamily="50" charset="-127"/>
              </a:rPr>
              <a:t>(2GB)</a:t>
            </a:r>
          </a:p>
        </p:txBody>
      </p:sp>
      <p:sp>
        <p:nvSpPr>
          <p:cNvPr id="139" name="직사각형 138"/>
          <p:cNvSpPr/>
          <p:nvPr/>
        </p:nvSpPr>
        <p:spPr>
          <a:xfrm>
            <a:off x="5061090" y="4623690"/>
            <a:ext cx="987396" cy="417287"/>
          </a:xfrm>
          <a:prstGeom prst="rect">
            <a:avLst/>
          </a:prstGeom>
          <a:solidFill>
            <a:schemeClr val="tx1">
              <a:lumMod val="75000"/>
              <a:lumOff val="2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sz="1100" b="1" dirty="0">
                <a:latin typeface="맑은 고딕" panose="020B0503020000020004" pitchFamily="50" charset="-127"/>
              </a:rPr>
              <a:t>eMMC I/F</a:t>
            </a:r>
          </a:p>
          <a:p>
            <a:pPr algn="ctr"/>
            <a:r>
              <a:rPr lang="en-US" altLang="ko-KR" sz="1100" b="1" dirty="0">
                <a:latin typeface="맑은 고딕" panose="020B0503020000020004" pitchFamily="50" charset="-127"/>
              </a:rPr>
              <a:t>(16GB)</a:t>
            </a:r>
          </a:p>
        </p:txBody>
      </p:sp>
      <p:grpSp>
        <p:nvGrpSpPr>
          <p:cNvPr id="140" name="그룹 139"/>
          <p:cNvGrpSpPr/>
          <p:nvPr/>
        </p:nvGrpSpPr>
        <p:grpSpPr>
          <a:xfrm rot="5400000">
            <a:off x="5311592" y="4343049"/>
            <a:ext cx="462975" cy="45728"/>
            <a:chOff x="3449392" y="6369588"/>
            <a:chExt cx="462975" cy="45728"/>
          </a:xfrm>
        </p:grpSpPr>
        <p:cxnSp>
          <p:nvCxnSpPr>
            <p:cNvPr id="141" name="직선 화살표 연결선 140"/>
            <p:cNvCxnSpPr/>
            <p:nvPr/>
          </p:nvCxnSpPr>
          <p:spPr>
            <a:xfrm rot="16200000">
              <a:off x="3680880" y="6163619"/>
              <a:ext cx="0" cy="462975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42" name="타원 141"/>
            <p:cNvSpPr/>
            <p:nvPr/>
          </p:nvSpPr>
          <p:spPr>
            <a:xfrm flipH="1">
              <a:off x="3658257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cxnSp>
        <p:nvCxnSpPr>
          <p:cNvPr id="158" name="직선 화살표 연결선 157"/>
          <p:cNvCxnSpPr/>
          <p:nvPr/>
        </p:nvCxnSpPr>
        <p:spPr>
          <a:xfrm flipH="1">
            <a:off x="6223006" y="4137904"/>
            <a:ext cx="1" cy="1227992"/>
          </a:xfrm>
          <a:prstGeom prst="straightConnector1">
            <a:avLst/>
          </a:prstGeom>
          <a:ln w="12700" cmpd="sng">
            <a:solidFill>
              <a:schemeClr val="tx1">
                <a:lumMod val="75000"/>
                <a:lumOff val="25000"/>
              </a:schemeClr>
            </a:solidFill>
            <a:prstDash val="solid"/>
            <a:headEnd type="triangle" w="med" len="med"/>
            <a:tailEnd type="triangle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039" name="그룹 1038"/>
          <p:cNvGrpSpPr/>
          <p:nvPr/>
        </p:nvGrpSpPr>
        <p:grpSpPr>
          <a:xfrm>
            <a:off x="6917575" y="5567955"/>
            <a:ext cx="1713066" cy="281930"/>
            <a:chOff x="6917575" y="5862869"/>
            <a:chExt cx="1713066" cy="281930"/>
          </a:xfrm>
        </p:grpSpPr>
        <p:sp>
          <p:nvSpPr>
            <p:cNvPr id="42" name="TextBox 39">
              <a:extLst>
                <a:ext uri="{FF2B5EF4-FFF2-40B4-BE49-F238E27FC236}">
                  <a16:creationId xmlns:a16="http://schemas.microsoft.com/office/drawing/2014/main" id="{546CD828-75A7-564E-93F5-E3FC3891ECE5}"/>
                </a:ext>
              </a:extLst>
            </p:cNvPr>
            <p:cNvSpPr txBox="1">
              <a:spLocks noChangeArrowheads="1"/>
            </p:cNvSpPr>
            <p:nvPr/>
          </p:nvSpPr>
          <p:spPr bwMode="auto">
            <a:xfrm>
              <a:off x="7110127" y="5862869"/>
              <a:ext cx="1317687" cy="261610"/>
            </a:xfrm>
            <a:prstGeom prst="rect">
              <a:avLst/>
            </a:prstGeom>
            <a:noFill/>
            <a:ln>
              <a:noFill/>
            </a:ln>
            <a:extLst>
              <a:ext uri="{909E8E84-426E-40DD-AFC4-6F175D3DCCD1}">
                <a14:hiddenFill xmlns:a14="http://schemas.microsoft.com/office/drawing/2010/main">
                  <a:solidFill>
                    <a:srgbClr val="FFFFFF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rgbClr val="000000"/>
                  </a:solidFill>
                  <a:miter lim="800000"/>
                  <a:headEnd/>
                  <a:tailEnd/>
                </a14:hiddenLine>
              </a:ext>
            </a:extLst>
          </p:spPr>
          <p:txBody>
            <a:bodyPr wrap="square">
              <a:spAutoFit/>
            </a:bodyPr>
            <a:lstStyle>
              <a:lvl1pPr latinLnBrk="1">
                <a:spcBef>
                  <a:spcPct val="20000"/>
                </a:spcBef>
                <a:buClr>
                  <a:srgbClr val="FE8C2E"/>
                </a:buClr>
                <a:buSzPct val="85000"/>
                <a:buFont typeface="Wingdings" panose="05000000000000000000" pitchFamily="2" charset="2"/>
                <a:buChar char="¢"/>
                <a:defRPr sz="3200">
                  <a:solidFill>
                    <a:schemeClr val="tx1"/>
                  </a:solidFill>
                  <a:latin typeface="Tahoma" panose="020B0604030504040204" pitchFamily="34" charset="0"/>
                </a:defRPr>
              </a:lvl1pPr>
              <a:lvl2pPr marL="742950" indent="-285750" latinLnBrk="1">
                <a:spcBef>
                  <a:spcPct val="20000"/>
                </a:spcBef>
                <a:buClr>
                  <a:srgbClr val="4CD416"/>
                </a:buClr>
                <a:buSzPct val="85000"/>
                <a:buFont typeface="Wingdings" panose="05000000000000000000" pitchFamily="2" charset="2"/>
                <a:buChar char="¤"/>
                <a:defRPr sz="2800">
                  <a:solidFill>
                    <a:schemeClr val="tx1"/>
                  </a:solidFill>
                  <a:latin typeface="Tahoma" panose="020B0604030504040204" pitchFamily="34" charset="0"/>
                </a:defRPr>
              </a:lvl2pPr>
              <a:lvl3pPr marL="1143000" indent="-228600" latinLnBrk="1">
                <a:spcBef>
                  <a:spcPct val="20000"/>
                </a:spcBef>
                <a:buClr>
                  <a:srgbClr val="33BDFB"/>
                </a:buClr>
                <a:buSzPct val="85000"/>
                <a:buFont typeface="Wingdings" panose="05000000000000000000" pitchFamily="2" charset="2"/>
                <a:buChar char="¤"/>
                <a:defRPr sz="2400">
                  <a:solidFill>
                    <a:schemeClr val="tx1"/>
                  </a:solidFill>
                  <a:latin typeface="Tahoma" panose="020B0604030504040204" pitchFamily="34" charset="0"/>
                </a:defRPr>
              </a:lvl3pPr>
              <a:lvl4pPr marL="1600200" indent="-228600" latinLnBrk="1">
                <a:spcBef>
                  <a:spcPct val="20000"/>
                </a:spcBef>
                <a:buClr>
                  <a:schemeClr val="accent2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4pPr>
              <a:lvl5pPr marL="2057400" indent="-228600" latinLnBrk="1">
                <a:spcBef>
                  <a:spcPct val="20000"/>
                </a:spcBef>
                <a:buClr>
                  <a:srgbClr val="C489FF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5pPr>
              <a:lvl6pPr marL="25146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lr>
                  <a:srgbClr val="C489FF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6pPr>
              <a:lvl7pPr marL="29718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lr>
                  <a:srgbClr val="C489FF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7pPr>
              <a:lvl8pPr marL="34290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lr>
                  <a:srgbClr val="C489FF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8pPr>
              <a:lvl9pPr marL="3886200" indent="-228600" eaLnBrk="0" fontAlgn="base" latinLnBrk="1" hangingPunct="0">
                <a:spcBef>
                  <a:spcPct val="20000"/>
                </a:spcBef>
                <a:spcAft>
                  <a:spcPct val="0"/>
                </a:spcAft>
                <a:buClr>
                  <a:srgbClr val="C489FF"/>
                </a:buClr>
                <a:buSzPct val="85000"/>
                <a:buFont typeface="Wingdings" panose="05000000000000000000" pitchFamily="2" charset="2"/>
                <a:buChar char="¤"/>
                <a:defRPr sz="2000">
                  <a:solidFill>
                    <a:schemeClr val="tx1"/>
                  </a:solidFill>
                  <a:latin typeface="Tahoma" panose="020B0604030504040204" pitchFamily="34" charset="0"/>
                </a:defRPr>
              </a:lvl9pPr>
            </a:lstStyle>
            <a:p>
              <a:pPr algn="ctr" latinLnBrk="0">
                <a:spcBef>
                  <a:spcPct val="0"/>
                </a:spcBef>
                <a:buClrTx/>
                <a:buSzTx/>
                <a:buFontTx/>
                <a:buNone/>
              </a:pPr>
              <a:r>
                <a:rPr lang="en-US" altLang="en-US" sz="1100">
                  <a:latin typeface="맑은 고딕" panose="020B0503020000020004" pitchFamily="50" charset="-127"/>
                </a:rPr>
                <a:t>Analog</a:t>
              </a:r>
              <a:endParaRPr lang="en-US" altLang="en-US" sz="1100" dirty="0">
                <a:latin typeface="맑은 고딕" panose="020B0503020000020004" pitchFamily="50" charset="-127"/>
              </a:endParaRPr>
            </a:p>
          </p:txBody>
        </p:sp>
        <p:grpSp>
          <p:nvGrpSpPr>
            <p:cNvPr id="161" name="그룹 160"/>
            <p:cNvGrpSpPr/>
            <p:nvPr/>
          </p:nvGrpSpPr>
          <p:grpSpPr>
            <a:xfrm>
              <a:off x="6917575" y="6099071"/>
              <a:ext cx="1713066" cy="45728"/>
              <a:chOff x="2963325" y="6369588"/>
              <a:chExt cx="1713066" cy="45728"/>
            </a:xfrm>
          </p:grpSpPr>
          <p:cxnSp>
            <p:nvCxnSpPr>
              <p:cNvPr id="162" name="직선 화살표 연결선 161"/>
              <p:cNvCxnSpPr/>
              <p:nvPr/>
            </p:nvCxnSpPr>
            <p:spPr>
              <a:xfrm>
                <a:off x="2963325" y="6392452"/>
                <a:ext cx="1713066" cy="0"/>
              </a:xfrm>
              <a:prstGeom prst="straightConnector1">
                <a:avLst/>
              </a:prstGeom>
              <a:ln w="12700" cmpd="sng">
                <a:solidFill>
                  <a:schemeClr val="tx1">
                    <a:lumMod val="75000"/>
                    <a:lumOff val="25000"/>
                  </a:schemeClr>
                </a:solidFill>
                <a:prstDash val="solid"/>
                <a:headEnd type="none" w="med" len="med"/>
                <a:tailEnd type="triangle" w="med" len="med"/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sp>
            <p:nvSpPr>
              <p:cNvPr id="163" name="타원 162"/>
              <p:cNvSpPr/>
              <p:nvPr/>
            </p:nvSpPr>
            <p:spPr>
              <a:xfrm flipH="1">
                <a:off x="3791861" y="6369588"/>
                <a:ext cx="45720" cy="45728"/>
              </a:xfrm>
              <a:prstGeom prst="ellipse">
                <a:avLst/>
              </a:prstGeom>
              <a:solidFill>
                <a:schemeClr val="bg1"/>
              </a:solidFill>
              <a:ln w="19050">
                <a:solidFill>
                  <a:schemeClr val="tx1">
                    <a:lumMod val="75000"/>
                    <a:lumOff val="25000"/>
                  </a:schemeClr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ko-KR" altLang="en-US"/>
              </a:p>
            </p:txBody>
          </p:sp>
        </p:grpSp>
      </p:grpSp>
      <p:pic>
        <p:nvPicPr>
          <p:cNvPr id="1036" name="Picture 8" descr="음성 마이크 "/>
          <p:cNvPicPr>
            <a:picLocks noChangeAspect="1" noChangeArrowheads="1"/>
          </p:cNvPicPr>
          <p:nvPr/>
        </p:nvPicPr>
        <p:blipFill>
          <a:blip r:embed="rId5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796410" y="5384742"/>
            <a:ext cx="324604" cy="32460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76" name="직사각형 175"/>
          <p:cNvSpPr/>
          <p:nvPr/>
        </p:nvSpPr>
        <p:spPr>
          <a:xfrm>
            <a:off x="8709628" y="5828589"/>
            <a:ext cx="1415124" cy="514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300" b="1">
              <a:latin typeface="맑은 고딕" panose="020B0503020000020004" pitchFamily="50" charset="-127"/>
            </a:endParaRPr>
          </a:p>
        </p:txBody>
      </p:sp>
      <p:sp>
        <p:nvSpPr>
          <p:cNvPr id="177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121014" y="5967086"/>
            <a:ext cx="991254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 dirty="0">
                <a:latin typeface="맑은 고딕" panose="020B0503020000020004" pitchFamily="50" charset="-127"/>
              </a:rPr>
              <a:t>Ext</a:t>
            </a:r>
            <a:r>
              <a:rPr lang="en-US" altLang="en-US" sz="1100" b="1">
                <a:latin typeface="맑은 고딕" panose="020B0503020000020004" pitchFamily="50" charset="-127"/>
              </a:rPr>
              <a:t>. Speaker</a:t>
            </a:r>
            <a:endParaRPr lang="en-US" altLang="en-US" sz="1100" b="1" dirty="0">
              <a:latin typeface="맑은 고딕" panose="020B0503020000020004" pitchFamily="50" charset="-127"/>
            </a:endParaRPr>
          </a:p>
        </p:txBody>
      </p:sp>
      <p:pic>
        <p:nvPicPr>
          <p:cNvPr id="1034" name="Picture 4" descr="스피커 "/>
          <p:cNvPicPr>
            <a:picLocks noChangeAspect="1" noChangeArrowheads="1"/>
          </p:cNvPicPr>
          <p:nvPr/>
        </p:nvPicPr>
        <p:blipFill>
          <a:blip r:embed="rId6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8822957" y="5921427"/>
            <a:ext cx="328548" cy="32854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84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607633" y="4751455"/>
            <a:ext cx="991254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GPIOs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sp>
        <p:nvSpPr>
          <p:cNvPr id="183" name="직사각형 182"/>
          <p:cNvSpPr/>
          <p:nvPr/>
        </p:nvSpPr>
        <p:spPr>
          <a:xfrm>
            <a:off x="1061381" y="4756749"/>
            <a:ext cx="2139618" cy="514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300" b="1">
              <a:latin typeface="맑은 고딕" panose="020B0503020000020004" pitchFamily="50" charset="-127"/>
            </a:endParaRPr>
          </a:p>
        </p:txBody>
      </p:sp>
      <p:pic>
        <p:nvPicPr>
          <p:cNvPr id="190" name="그림 50">
            <a:extLst>
              <a:ext uri="{FF2B5EF4-FFF2-40B4-BE49-F238E27FC236}">
                <a16:creationId xmlns:a16="http://schemas.microsoft.com/office/drawing/2014/main" id="{CBB69A30-D873-D6A7-2CF0-7363F79488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47279" r="36613" b="72961"/>
          <a:stretch/>
        </p:blipFill>
        <p:spPr bwMode="auto">
          <a:xfrm>
            <a:off x="1092662" y="4839393"/>
            <a:ext cx="473824" cy="34893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grpSp>
        <p:nvGrpSpPr>
          <p:cNvPr id="194" name="그룹 193"/>
          <p:cNvGrpSpPr/>
          <p:nvPr/>
        </p:nvGrpSpPr>
        <p:grpSpPr>
          <a:xfrm>
            <a:off x="3221207" y="4974100"/>
            <a:ext cx="1713066" cy="45728"/>
            <a:chOff x="2963325" y="6369588"/>
            <a:chExt cx="1713066" cy="45728"/>
          </a:xfrm>
        </p:grpSpPr>
        <p:cxnSp>
          <p:nvCxnSpPr>
            <p:cNvPr id="195" name="직선 화살표 연결선 194"/>
            <p:cNvCxnSpPr/>
            <p:nvPr/>
          </p:nvCxnSpPr>
          <p:spPr>
            <a:xfrm>
              <a:off x="2963325" y="6392452"/>
              <a:ext cx="1713066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196" name="타원 195"/>
            <p:cNvSpPr/>
            <p:nvPr/>
          </p:nvSpPr>
          <p:spPr>
            <a:xfrm flipH="1">
              <a:off x="3791861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197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898172" y="5380572"/>
            <a:ext cx="991254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GPIO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sp>
        <p:nvSpPr>
          <p:cNvPr id="17" name="TextBox 29">
            <a:extLst>
              <a:ext uri="{FF2B5EF4-FFF2-40B4-BE49-F238E27FC236}">
                <a16:creationId xmlns:a16="http://schemas.microsoft.com/office/drawing/2014/main" id="{EB286095-D3EC-BBBF-B27E-0AEA109D70A8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39292" y="5510730"/>
            <a:ext cx="1134543" cy="261610"/>
          </a:xfrm>
          <a:prstGeom prst="rect">
            <a:avLst/>
          </a:prstGeom>
          <a:noFill/>
          <a:ln>
            <a:noFill/>
          </a:ln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 dirty="0">
                <a:solidFill>
                  <a:srgbClr val="FF0000"/>
                </a:solidFill>
                <a:latin typeface="맑은 고딕" panose="020B0503020000020004" pitchFamily="50" charset="-127"/>
              </a:rPr>
              <a:t>F/W Upgrade</a:t>
            </a:r>
          </a:p>
        </p:txBody>
      </p:sp>
      <p:sp>
        <p:nvSpPr>
          <p:cNvPr id="202" name="TextBox 58">
            <a:extLst>
              <a:ext uri="{FF2B5EF4-FFF2-40B4-BE49-F238E27FC236}">
                <a16:creationId xmlns:a16="http://schemas.microsoft.com/office/drawing/2014/main" id="{0F1CED67-3F91-B341-2291-28C403DD33EA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3724346" y="5876014"/>
            <a:ext cx="1317687" cy="26161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>
                <a:latin typeface="맑은 고딕" panose="020B0503020000020004" pitchFamily="50" charset="-127"/>
              </a:rPr>
              <a:t>USB OTG / Host</a:t>
            </a:r>
            <a:endParaRPr lang="en-US" altLang="en-US" sz="1100" dirty="0">
              <a:latin typeface="맑은 고딕" panose="020B0503020000020004" pitchFamily="50" charset="-127"/>
            </a:endParaRPr>
          </a:p>
        </p:txBody>
      </p:sp>
      <p:grpSp>
        <p:nvGrpSpPr>
          <p:cNvPr id="203" name="그룹 202"/>
          <p:cNvGrpSpPr/>
          <p:nvPr/>
        </p:nvGrpSpPr>
        <p:grpSpPr>
          <a:xfrm>
            <a:off x="3216240" y="6121959"/>
            <a:ext cx="2303975" cy="45728"/>
            <a:chOff x="2422620" y="6369588"/>
            <a:chExt cx="2303975" cy="45728"/>
          </a:xfrm>
        </p:grpSpPr>
        <p:cxnSp>
          <p:nvCxnSpPr>
            <p:cNvPr id="204" name="직선 화살표 연결선 203"/>
            <p:cNvCxnSpPr/>
            <p:nvPr/>
          </p:nvCxnSpPr>
          <p:spPr>
            <a:xfrm>
              <a:off x="2422620" y="6392452"/>
              <a:ext cx="230397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triangl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05" name="타원 204"/>
            <p:cNvSpPr/>
            <p:nvPr/>
          </p:nvSpPr>
          <p:spPr>
            <a:xfrm flipH="1">
              <a:off x="3589339" y="6369588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grpSp>
        <p:nvGrpSpPr>
          <p:cNvPr id="209" name="그룹 208"/>
          <p:cNvGrpSpPr/>
          <p:nvPr/>
        </p:nvGrpSpPr>
        <p:grpSpPr>
          <a:xfrm flipH="1" flipV="1">
            <a:off x="3216240" y="5606414"/>
            <a:ext cx="2279686" cy="45719"/>
            <a:chOff x="2396255" y="6369587"/>
            <a:chExt cx="2280135" cy="45728"/>
          </a:xfrm>
        </p:grpSpPr>
        <p:cxnSp>
          <p:nvCxnSpPr>
            <p:cNvPr id="210" name="직선 화살표 연결선 209"/>
            <p:cNvCxnSpPr/>
            <p:nvPr/>
          </p:nvCxnSpPr>
          <p:spPr>
            <a:xfrm flipV="1">
              <a:off x="2396255" y="6392453"/>
              <a:ext cx="2280135" cy="0"/>
            </a:xfrm>
            <a:prstGeom prst="straightConnector1">
              <a:avLst/>
            </a:prstGeom>
            <a:ln w="12700" cmpd="sng">
              <a:solidFill>
                <a:schemeClr val="tx1">
                  <a:lumMod val="75000"/>
                  <a:lumOff val="25000"/>
                </a:schemeClr>
              </a:solidFill>
              <a:prstDash val="solid"/>
              <a:headEnd type="none" w="med" len="med"/>
              <a:tailEnd type="triangle" w="med" len="med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sp>
          <p:nvSpPr>
            <p:cNvPr id="211" name="타원 210"/>
            <p:cNvSpPr/>
            <p:nvPr/>
          </p:nvSpPr>
          <p:spPr>
            <a:xfrm flipH="1">
              <a:off x="3466357" y="6369587"/>
              <a:ext cx="45720" cy="45728"/>
            </a:xfrm>
            <a:prstGeom prst="ellipse">
              <a:avLst/>
            </a:prstGeom>
            <a:solidFill>
              <a:schemeClr val="bg1"/>
            </a:solidFill>
            <a:ln w="19050">
              <a:solidFill>
                <a:schemeClr val="tx1">
                  <a:lumMod val="75000"/>
                  <a:lumOff val="25000"/>
                </a:schemeClr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16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6905" y="4787042"/>
            <a:ext cx="2271077" cy="417066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>
                <a:latin typeface="맑은 고딕" panose="020B0503020000020004" pitchFamily="50" charset="-127"/>
              </a:rPr>
              <a:t>Buttons</a:t>
            </a:r>
          </a:p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>
                <a:latin typeface="맑은 고딕" panose="020B0503020000020004" pitchFamily="50" charset="-127"/>
              </a:rPr>
              <a:t>(Power, Func.1,Func.2)</a:t>
            </a:r>
            <a:endParaRPr lang="en-US" altLang="en-US" sz="1100" b="1" dirty="0">
              <a:latin typeface="맑은 고딕" panose="020B0503020000020004" pitchFamily="50" charset="-127"/>
            </a:endParaRPr>
          </a:p>
        </p:txBody>
      </p:sp>
      <p:sp>
        <p:nvSpPr>
          <p:cNvPr id="220" name="직사각형 219"/>
          <p:cNvSpPr/>
          <p:nvPr/>
        </p:nvSpPr>
        <p:spPr>
          <a:xfrm>
            <a:off x="2121725" y="5375098"/>
            <a:ext cx="1079274" cy="514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300" b="1">
              <a:latin typeface="맑은 고딕" panose="020B0503020000020004" pitchFamily="50" charset="-127"/>
            </a:endParaRPr>
          </a:p>
        </p:txBody>
      </p:sp>
      <p:sp>
        <p:nvSpPr>
          <p:cNvPr id="222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2602775" y="5512339"/>
            <a:ext cx="410638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>
                <a:latin typeface="맑은 고딕" panose="020B0503020000020004" pitchFamily="50" charset="-127"/>
              </a:rPr>
              <a:t>LED</a:t>
            </a:r>
            <a:endParaRPr lang="en-US" altLang="en-US" sz="1100" b="1" dirty="0">
              <a:latin typeface="맑은 고딕" panose="020B0503020000020004" pitchFamily="50" charset="-127"/>
            </a:endParaRPr>
          </a:p>
        </p:txBody>
      </p:sp>
      <p:pic>
        <p:nvPicPr>
          <p:cNvPr id="1044" name="Picture 10" descr="led 조명 램프 "/>
          <p:cNvPicPr>
            <a:picLocks noChangeAspect="1" noChangeArrowheads="1"/>
          </p:cNvPicPr>
          <p:nvPr/>
        </p:nvPicPr>
        <p:blipFill>
          <a:blip r:embed="rId8" cstate="screen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/>
          <a:stretch>
            <a:fillRect/>
          </a:stretch>
        </p:blipFill>
        <p:spPr bwMode="auto">
          <a:xfrm>
            <a:off x="2187024" y="5453421"/>
            <a:ext cx="396464" cy="39646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226" name="직사각형 225"/>
          <p:cNvSpPr/>
          <p:nvPr/>
        </p:nvSpPr>
        <p:spPr>
          <a:xfrm>
            <a:off x="1296257" y="5946051"/>
            <a:ext cx="1904742" cy="514226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altLang="ko-KR" sz="1300" b="1">
              <a:latin typeface="맑은 고딕" panose="020B0503020000020004" pitchFamily="50" charset="-127"/>
            </a:endParaRPr>
          </a:p>
        </p:txBody>
      </p:sp>
      <p:sp>
        <p:nvSpPr>
          <p:cNvPr id="224" name="TextBox 29">
            <a:extLst>
              <a:ext uri="{FF2B5EF4-FFF2-40B4-BE49-F238E27FC236}">
                <a16:creationId xmlns:a16="http://schemas.microsoft.com/office/drawing/2014/main" id="{58D442B5-CD30-7484-B919-13AAD904B99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11366" y="6066700"/>
            <a:ext cx="1544243" cy="247788"/>
          </a:xfrm>
          <a:prstGeom prst="rect">
            <a:avLst/>
          </a:prstGeom>
          <a:noFill/>
          <a:ln>
            <a:noFill/>
          </a:ln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100" b="1">
                <a:latin typeface="맑은 고딕" panose="020B0503020000020004" pitchFamily="50" charset="-127"/>
              </a:rPr>
              <a:t>USB (Micro-C)</a:t>
            </a:r>
            <a:endParaRPr lang="en-US" altLang="en-US" sz="1100" b="1" dirty="0">
              <a:latin typeface="맑은 고딕" panose="020B0503020000020004" pitchFamily="50" charset="-127"/>
            </a:endParaRPr>
          </a:p>
        </p:txBody>
      </p:sp>
      <p:pic>
        <p:nvPicPr>
          <p:cNvPr id="56" name="그림 50">
            <a:extLst>
              <a:ext uri="{FF2B5EF4-FFF2-40B4-BE49-F238E27FC236}">
                <a16:creationId xmlns:a16="http://schemas.microsoft.com/office/drawing/2014/main" id="{CBB69A30-D873-D6A7-2CF0-7363F79488E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7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7879" t="52325" r="72038" b="20494"/>
          <a:stretch/>
        </p:blipFill>
        <p:spPr bwMode="auto">
          <a:xfrm>
            <a:off x="1363774" y="6015262"/>
            <a:ext cx="639324" cy="379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228" name="TextBox 227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229" name="TextBox 228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751425" y="465285"/>
            <a:ext cx="996748" cy="16927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en-US" altLang="ko-KR" sz="1100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H/W </a:t>
            </a:r>
            <a:r>
              <a:rPr lang="ko-KR" altLang="en-US" sz="1100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구성</a:t>
            </a:r>
            <a:endParaRPr lang="nn-NO" altLang="ko-KR" sz="1100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230" name="TextBox 229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4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01</a:t>
            </a:r>
          </a:p>
        </p:txBody>
      </p:sp>
      <p:sp>
        <p:nvSpPr>
          <p:cNvPr id="231" name="TextBox 14">
            <a:extLst>
              <a:ext uri="{FF2B5EF4-FFF2-40B4-BE49-F238E27FC236}">
                <a16:creationId xmlns:a16="http://schemas.microsoft.com/office/drawing/2014/main" id="{1D787A7E-DF8D-561D-0795-861C7190AAE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894569" y="2176817"/>
            <a:ext cx="1196834" cy="24009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 lIns="77751" tIns="38876" rIns="77751" bIns="38876">
            <a:spAutoFit/>
          </a:bodyPr>
          <a:lstStyle>
            <a:lvl1pPr latinLnBrk="1">
              <a:spcBef>
                <a:spcPct val="20000"/>
              </a:spcBef>
              <a:buClr>
                <a:srgbClr val="FE8C2E"/>
              </a:buClr>
              <a:buSzPct val="85000"/>
              <a:buFont typeface="Wingdings" panose="05000000000000000000" pitchFamily="2" charset="2"/>
              <a:buChar char="¢"/>
              <a:defRPr sz="3200">
                <a:solidFill>
                  <a:schemeClr val="tx1"/>
                </a:solidFill>
                <a:latin typeface="Tahoma" panose="020B0604030504040204" pitchFamily="34" charset="0"/>
              </a:defRPr>
            </a:lvl1pPr>
            <a:lvl2pPr marL="742950" indent="-285750" latinLnBrk="1">
              <a:spcBef>
                <a:spcPct val="20000"/>
              </a:spcBef>
              <a:buClr>
                <a:srgbClr val="4CD416"/>
              </a:buClr>
              <a:buSzPct val="85000"/>
              <a:buFont typeface="Wingdings" panose="05000000000000000000" pitchFamily="2" charset="2"/>
              <a:buChar char="¤"/>
              <a:defRPr sz="2800">
                <a:solidFill>
                  <a:schemeClr val="tx1"/>
                </a:solidFill>
                <a:latin typeface="Tahoma" panose="020B0604030504040204" pitchFamily="34" charset="0"/>
              </a:defRPr>
            </a:lvl2pPr>
            <a:lvl3pPr marL="1143000" indent="-228600" latinLnBrk="1">
              <a:spcBef>
                <a:spcPct val="20000"/>
              </a:spcBef>
              <a:buClr>
                <a:srgbClr val="33BDFB"/>
              </a:buClr>
              <a:buSzPct val="85000"/>
              <a:buFont typeface="Wingdings" panose="05000000000000000000" pitchFamily="2" charset="2"/>
              <a:buChar char="¤"/>
              <a:defRPr sz="2400">
                <a:solidFill>
                  <a:schemeClr val="tx1"/>
                </a:solidFill>
                <a:latin typeface="Tahoma" panose="020B0604030504040204" pitchFamily="34" charset="0"/>
              </a:defRPr>
            </a:lvl3pPr>
            <a:lvl4pPr marL="1600200" indent="-228600" latinLnBrk="1">
              <a:spcBef>
                <a:spcPct val="20000"/>
              </a:spcBef>
              <a:buClr>
                <a:schemeClr val="accent2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4pPr>
            <a:lvl5pPr marL="2057400" indent="-228600" latinLnBrk="1">
              <a:spcBef>
                <a:spcPct val="20000"/>
              </a:spcBef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5pPr>
            <a:lvl6pPr marL="25146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6pPr>
            <a:lvl7pPr marL="29718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7pPr>
            <a:lvl8pPr marL="34290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8pPr>
            <a:lvl9pPr marL="3886200" indent="-228600" eaLnBrk="0" fontAlgn="base" latinLnBrk="1" hangingPunct="0">
              <a:spcBef>
                <a:spcPct val="20000"/>
              </a:spcBef>
              <a:spcAft>
                <a:spcPct val="0"/>
              </a:spcAft>
              <a:buClr>
                <a:srgbClr val="C489FF"/>
              </a:buClr>
              <a:buSzPct val="85000"/>
              <a:buFont typeface="Wingdings" panose="05000000000000000000" pitchFamily="2" charset="2"/>
              <a:buChar char="¤"/>
              <a:defRPr sz="2000">
                <a:solidFill>
                  <a:schemeClr val="tx1"/>
                </a:solidFill>
                <a:latin typeface="Tahoma" panose="020B0604030504040204" pitchFamily="34" charset="0"/>
              </a:defRPr>
            </a:lvl9pPr>
          </a:lstStyle>
          <a:p>
            <a:pPr algn="ctr" latinLnBrk="0">
              <a:spcBef>
                <a:spcPct val="0"/>
              </a:spcBef>
              <a:buClrTx/>
              <a:buSzTx/>
              <a:buFontTx/>
              <a:buNone/>
            </a:pPr>
            <a:r>
              <a:rPr lang="en-US" altLang="en-US" sz="1050">
                <a:solidFill>
                  <a:srgbClr val="333333"/>
                </a:solidFill>
                <a:latin typeface="맑은 고딕" panose="020B0503020000020004" pitchFamily="50" charset="-127"/>
              </a:rPr>
              <a:t>RJ45</a:t>
            </a:r>
            <a:endParaRPr lang="en-US" altLang="en-US" sz="1050" dirty="0">
              <a:solidFill>
                <a:srgbClr val="FFFF00"/>
              </a:solidFill>
              <a:latin typeface="맑은 고딕" panose="020B0503020000020004" pitchFamily="50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9416329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5A75EBC-9A6E-2BF3-11AD-A74B9793EF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3" name="표 2">
            <a:extLst>
              <a:ext uri="{FF2B5EF4-FFF2-40B4-BE49-F238E27FC236}">
                <a16:creationId xmlns:a16="http://schemas.microsoft.com/office/drawing/2014/main" id="{61FB8CAA-29BE-D62D-D3B5-A4AFBC76A8C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69032181"/>
              </p:ext>
            </p:extLst>
          </p:nvPr>
        </p:nvGraphicFramePr>
        <p:xfrm>
          <a:off x="327688" y="1347104"/>
          <a:ext cx="11519778" cy="4709788"/>
        </p:xfrm>
        <a:graphic>
          <a:graphicData uri="http://schemas.openxmlformats.org/drawingml/2006/table">
            <a:tbl>
              <a:tblPr/>
              <a:tblGrid>
                <a:gridCol w="590067">
                  <a:extLst>
                    <a:ext uri="{9D8B030D-6E8A-4147-A177-3AD203B41FA5}">
                      <a16:colId xmlns:a16="http://schemas.microsoft.com/office/drawing/2014/main" val="1715248904"/>
                    </a:ext>
                  </a:extLst>
                </a:gridCol>
                <a:gridCol w="2264603">
                  <a:extLst>
                    <a:ext uri="{9D8B030D-6E8A-4147-A177-3AD203B41FA5}">
                      <a16:colId xmlns:a16="http://schemas.microsoft.com/office/drawing/2014/main" val="2618011542"/>
                    </a:ext>
                  </a:extLst>
                </a:gridCol>
                <a:gridCol w="8665108">
                  <a:extLst>
                    <a:ext uri="{9D8B030D-6E8A-4147-A177-3AD203B41FA5}">
                      <a16:colId xmlns:a16="http://schemas.microsoft.com/office/drawing/2014/main" val="1346546916"/>
                    </a:ext>
                  </a:extLst>
                </a:gridCol>
              </a:tblGrid>
              <a:tr h="291196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NO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구 분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세 부 내 용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34177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CPU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RK3568J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8537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2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Memory 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16GB eMMC(</a:t>
                      </a:r>
                      <a:r>
                        <a:rPr lang="en-US" sz="1400" dirty="0">
                          <a:latin typeface="+mn-ea"/>
                          <a:ea typeface="+mn-ea"/>
                        </a:rPr>
                        <a:t>PTE7AYJ-32GE)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 + 2GB DDR4(H5ANAG6NCJR)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450593"/>
                  </a:ext>
                </a:extLst>
              </a:tr>
              <a:tr h="525629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3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LCD w/ Touch (for Embedded)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MIPI DSI I/F, 1.7IPS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Color LCD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GUI Display, Capacitive Touch : I2c interface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29539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4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NFC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13.56MHz Mifare Classic, ISO 14443 Type A,B 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439868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5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BT BLE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Wifi+BLE5.0 combo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4380319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6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Camera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2x Mobile Image Sensor, MIPI-CSI Connection Host Interface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144723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7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Ethernet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10/100/1000 Mbps PHY</a:t>
                      </a:r>
                      <a:r>
                        <a:rPr kumimoji="0" lang="ko-KR" alt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chip</a:t>
                      </a:r>
                      <a:r>
                        <a:rPr kumimoji="0" lang="ko-KR" alt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&amp;</a:t>
                      </a:r>
                      <a:r>
                        <a:rPr kumimoji="0" lang="ko-KR" alt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Transformer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3908397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8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S1-RS422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Device Driver, Simple Test application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7785383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9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USB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USB OTG, USB Host , Type C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043685"/>
                  </a:ext>
                </a:extLst>
              </a:tr>
              <a:tr h="315745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10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MIC &amp;  </a:t>
                      </a: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Speaker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External Interface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10097"/>
                  </a:ext>
                </a:extLst>
              </a:tr>
              <a:tr h="525629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11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Power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PMIC : </a:t>
                      </a:r>
                      <a:r>
                        <a:rPr lang="pt-BR" sz="14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 (</a:t>
                      </a:r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+mn-ea"/>
                          <a:ea typeface="+mn-ea"/>
                          <a:cs typeface="+mn-cs"/>
                        </a:rPr>
                        <a:t>RK808-B)</a:t>
                      </a:r>
                      <a:endParaRPr kumimoji="0" lang="en-US" altLang="ko-KR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PMU : External Power Management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341093"/>
                  </a:ext>
                </a:extLst>
              </a:tr>
              <a:tr h="525629"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12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Etc.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Certification(CE, FCC, KC…)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3175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24084796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과제개요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4915685" y="302864"/>
            <a:ext cx="2393476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ko-KR" altLang="en-US" sz="2800" b="1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주요 </a:t>
            </a:r>
            <a:r>
              <a:rPr lang="en-US" altLang="ko-KR" sz="2800" b="1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H/W </a:t>
            </a:r>
            <a:r>
              <a:rPr lang="ko-KR" altLang="en-US" sz="2800" b="1" spc="-79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사양</a:t>
            </a:r>
            <a:endParaRPr lang="nn-NO" altLang="ko-KR" sz="28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379583490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2" descr="D:\REF\background,image\CK_cb0460056669.jpg"/>
          <p:cNvPicPr>
            <a:picLocks noChangeAspect="1" noChangeArrowheads="1"/>
          </p:cNvPicPr>
          <p:nvPr/>
        </p:nvPicPr>
        <p:blipFill rotWithShape="1">
          <a:blip r:embed="rId2" cstate="screen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2350" b="30205"/>
          <a:stretch/>
        </p:blipFill>
        <p:spPr bwMode="auto">
          <a:xfrm>
            <a:off x="-1" y="1240"/>
            <a:ext cx="12190413" cy="2891837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9" name="TextBox 18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5778439" y="3152419"/>
            <a:ext cx="1917192" cy="57445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l"/>
            <a:r>
              <a:rPr lang="ko-KR" altLang="en-US" sz="3733" b="1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tx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개발내용</a:t>
            </a:r>
            <a:endParaRPr lang="en-US" altLang="ko-KR" sz="3733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tx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830468" y="3104116"/>
            <a:ext cx="634790" cy="656462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r"/>
            <a:r>
              <a:rPr lang="en-US" altLang="ko-KR" sz="4266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rgbClr val="2E71EA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" pitchFamily="50" charset="-127"/>
              </a:rPr>
              <a:t>02</a:t>
            </a:r>
          </a:p>
        </p:txBody>
      </p:sp>
      <p:cxnSp>
        <p:nvCxnSpPr>
          <p:cNvPr id="8" name="직선 연결선 7"/>
          <p:cNvCxnSpPr/>
          <p:nvPr/>
        </p:nvCxnSpPr>
        <p:spPr>
          <a:xfrm>
            <a:off x="5603901" y="3226621"/>
            <a:ext cx="0" cy="406347"/>
          </a:xfrm>
          <a:prstGeom prst="line">
            <a:avLst/>
          </a:prstGeom>
          <a:ln w="12700">
            <a:solidFill>
              <a:srgbClr val="2E71EA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808918735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F7AED3-EF9C-1C70-1972-89B43DD844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31F159F-BD69-201A-70D4-5429EF93DDEE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383201633"/>
              </p:ext>
            </p:extLst>
          </p:nvPr>
        </p:nvGraphicFramePr>
        <p:xfrm>
          <a:off x="327687" y="1347103"/>
          <a:ext cx="11519780" cy="4885696"/>
        </p:xfrm>
        <a:graphic>
          <a:graphicData uri="http://schemas.openxmlformats.org/drawingml/2006/table">
            <a:tbl>
              <a:tblPr/>
              <a:tblGrid>
                <a:gridCol w="542902">
                  <a:extLst>
                    <a:ext uri="{9D8B030D-6E8A-4147-A177-3AD203B41FA5}">
                      <a16:colId xmlns:a16="http://schemas.microsoft.com/office/drawing/2014/main" val="1715248904"/>
                    </a:ext>
                  </a:extLst>
                </a:gridCol>
                <a:gridCol w="2657238">
                  <a:extLst>
                    <a:ext uri="{9D8B030D-6E8A-4147-A177-3AD203B41FA5}">
                      <a16:colId xmlns:a16="http://schemas.microsoft.com/office/drawing/2014/main" val="2618011542"/>
                    </a:ext>
                  </a:extLst>
                </a:gridCol>
                <a:gridCol w="8319640">
                  <a:extLst>
                    <a:ext uri="{9D8B030D-6E8A-4147-A177-3AD203B41FA5}">
                      <a16:colId xmlns:a16="http://schemas.microsoft.com/office/drawing/2014/main" val="1346546916"/>
                    </a:ext>
                  </a:extLst>
                </a:gridCol>
              </a:tblGrid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NO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kumimoji="0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구 분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ko-KR" altLang="en-US" sz="1400" b="1" i="0" u="none" strike="noStrike" cap="none" normalizeH="0" baseline="0">
                          <a:ln>
                            <a:noFill/>
                          </a:ln>
                          <a:solidFill>
                            <a:schemeClr val="bg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세 부 내 용</a:t>
                      </a:r>
                      <a:endParaRPr kumimoji="0" lang="ko-KR" altLang="en-US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bg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5034177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CPU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Power Management * Clock Distribution * External PMIC (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방열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임피던스 매칭 고려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0368537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2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Memory 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16GB Flash( Nand or eMMC)  + 2GB DDR4(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방열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임피던스 매칭 고려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65450593"/>
                  </a:ext>
                </a:extLst>
              </a:tr>
              <a:tr h="462819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3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LCD w/ Touch (for Embedded)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MIPI DSI I/F, 800*1200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픽셀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2.4” IPS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Color LCD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GUI Display, Capacitive Touch : I2c interface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29539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4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NFC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13.56MHz Mifare Classic, ISO 14443 Type A,B – NXP chip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검토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표준 및 미니카드 대응설계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)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02439868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5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 BLE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BLE5.0 over : BT(UART), Internal Antenna (BT BLE )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44380319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6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Camera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2x Mobile Image Sensor, MIPI-CSI Connection Host Interface : I2C, IR LED 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0144723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7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Ethernet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10/100/1000 Mbps PHY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chip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&amp;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Transformer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73908397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8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RS422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Device Driver, Simple Test application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007785383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9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USB OTG, USB Host , Type C(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고속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impedance matching artwork design)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108043685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10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Audio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Mono sound codec, A low noise input buffer, and an output amplifier.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6728803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11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Buttons I/O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Power On/Off Button </a:t>
                      </a:r>
                      <a:r>
                        <a:rPr kumimoji="0" lang="ko-KR" altLang="en-US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및 기타 </a:t>
                      </a:r>
                      <a:r>
                        <a:rPr kumimoji="0" lang="en-US" altLang="ko-KR" sz="1400" b="0" i="0" u="none" strike="noStrike" cap="none" normalizeH="0" baseline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Function Buttons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868947413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12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 LEDs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IR LED and Status LED –?LEDs(Power LED)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992242306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13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 &amp;  </a:t>
                      </a: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Speaker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EXT.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(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기구 조립성 및 음질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하울링 문제점 고려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, )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520910097"/>
                  </a:ext>
                </a:extLst>
              </a:tr>
              <a:tr h="462819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14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1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Power</a:t>
                      </a:r>
                      <a:endParaRPr kumimoji="0" lang="en-US" altLang="ko-KR" sz="1400" b="1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PMIC: 12V input</a:t>
                      </a:r>
                    </a:p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PMIC : External Power Management, Default Power Outputs</a:t>
                      </a: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77341093"/>
                  </a:ext>
                </a:extLst>
              </a:tr>
              <a:tr h="278017"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ctr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맑은 고딕 Semilight" panose="020B0502040204020203" pitchFamily="50" charset="-127"/>
                        </a:rPr>
                        <a:t>15</a:t>
                      </a:r>
                    </a:p>
                  </a:txBody>
                  <a:tcPr marL="87068" marR="87068" marT="32663" marB="32663" anchor="ctr" horzOverflow="overflow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algn="ctr"/>
                      <a:r>
                        <a:rPr lang="en-US" sz="1400" b="1" i="0" u="none" strike="noStrike" kern="1200" dirty="0">
                          <a:solidFill>
                            <a:schemeClr val="tx1"/>
                          </a:solidFill>
                          <a:effectLst/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Operating Temperature</a:t>
                      </a:r>
                      <a:endParaRPr lang="en-US" sz="1400" b="1" i="0" u="none" strike="noStrike" kern="1200" dirty="0">
                        <a:solidFill>
                          <a:schemeClr val="tx1"/>
                        </a:solidFill>
                        <a:effectLst/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  <a:hlinkClick r:id="rId2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FE8C2E"/>
                        </a:buClr>
                        <a:buSzPct val="85000"/>
                        <a:buFont typeface="Wingdings" panose="05000000000000000000" pitchFamily="2" charset="2"/>
                        <a:defRPr sz="28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1pPr>
                      <a:lvl2pPr marL="742950" indent="-28575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4CD416"/>
                        </a:buClr>
                        <a:buSzPct val="85000"/>
                        <a:buFont typeface="Wingdings" panose="05000000000000000000" pitchFamily="2" charset="2"/>
                        <a:defRPr sz="24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2pPr>
                      <a:lvl3pPr marL="11430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33BDFB"/>
                        </a:buClr>
                        <a:buSzPct val="85000"/>
                        <a:buFont typeface="Wingdings" panose="05000000000000000000" pitchFamily="2" charset="2"/>
                        <a:defRPr sz="200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3pPr>
                      <a:lvl4pPr marL="16002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chemeClr val="accent2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4pPr>
                      <a:lvl5pPr marL="2057400" indent="-228600" algn="l" defTabSz="1280160" rtl="0" eaLnBrk="1" latinLnBrk="1" hangingPunct="1">
                        <a:spcBef>
                          <a:spcPct val="20000"/>
                        </a:spcBef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5pPr>
                      <a:lvl6pPr marL="25146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6pPr>
                      <a:lvl7pPr marL="29718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7pPr>
                      <a:lvl8pPr marL="34290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8pPr>
                      <a:lvl9pPr marL="3886200" indent="-228600" algn="l" defTabSz="1280160" rtl="0" eaLnBrk="0" fontAlgn="base" latinLnBrk="1" hangingPunct="0">
                        <a:spcBef>
                          <a:spcPct val="20000"/>
                        </a:spcBef>
                        <a:spcAft>
                          <a:spcPct val="0"/>
                        </a:spcAft>
                        <a:buClr>
                          <a:srgbClr val="C489FF"/>
                        </a:buClr>
                        <a:buSzPct val="85000"/>
                        <a:buFont typeface="Wingdings" panose="05000000000000000000" pitchFamily="2" charset="2"/>
                        <a:defRPr sz="2520" kern="1200">
                          <a:solidFill>
                            <a:schemeClr val="tx1"/>
                          </a:solidFill>
                          <a:latin typeface="Tahoma" panose="020B0604030504040204" pitchFamily="34" charset="0"/>
                        </a:defRPr>
                      </a:lvl9pPr>
                    </a:lstStyle>
                    <a:p>
                      <a:pPr marL="0" marR="0" lvl="0" indent="0" algn="l" defTabSz="914400" rtl="0" eaLnBrk="1" fontAlgn="base" latinLnBrk="1" hangingPunct="1">
                        <a:lnSpc>
                          <a:spcPct val="100000"/>
                        </a:lnSpc>
                        <a:spcBef>
                          <a:spcPct val="0"/>
                        </a:spcBef>
                        <a:spcAft>
                          <a:spcPct val="0"/>
                        </a:spcAft>
                        <a:buClrTx/>
                        <a:buSzTx/>
                        <a:buFontTx/>
                        <a:buNone/>
                        <a:tabLst/>
                      </a:pP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-20°C ~ 50°C,</a:t>
                      </a:r>
                      <a:r>
                        <a:rPr lang="en-US" sz="1400" b="0" i="0" kern="1200" dirty="0"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  <a:cs typeface="+mn-cs"/>
                        </a:rPr>
                        <a:t> 0%~80%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 </a:t>
                      </a:r>
                      <a:r>
                        <a:rPr kumimoji="0" lang="ko-KR" altLang="en-US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부품 선정 중요</a:t>
                      </a:r>
                      <a:r>
                        <a:rPr kumimoji="0" lang="en-US" altLang="ko-KR" sz="1400" b="0" i="0" u="none" strike="noStrike" cap="none" normalizeH="0" baseline="0" dirty="0">
                          <a:ln>
                            <a:noFill/>
                          </a:ln>
                          <a:solidFill>
                            <a:schemeClr val="tx1"/>
                          </a:solidFill>
                          <a:effectLst/>
                          <a:latin typeface="+mn-ea"/>
                          <a:ea typeface="+mn-ea"/>
                        </a:rPr>
                        <a:t>!</a:t>
                      </a:r>
                      <a:endParaRPr kumimoji="0" lang="ko-KR" altLang="en-US" sz="1400" b="0" i="0" u="none" strike="noStrike" cap="none" normalizeH="0" baseline="0" dirty="0">
                        <a:ln>
                          <a:noFill/>
                        </a:ln>
                        <a:solidFill>
                          <a:schemeClr val="tx1"/>
                        </a:solidFill>
                        <a:effectLst/>
                        <a:latin typeface="+mn-ea"/>
                        <a:ea typeface="+mn-ea"/>
                      </a:endParaRPr>
                    </a:p>
                  </a:txBody>
                  <a:tcPr marL="87068" marR="87068" marT="32663" marB="32663" anchor="ctr" horzOverflow="overflow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>
                      <a:noFill/>
                    </a:lnTlToBr>
                    <a:lnBlToTr>
                      <a:noFill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07882670"/>
                  </a:ext>
                </a:extLst>
              </a:tr>
            </a:tbl>
          </a:graphicData>
        </a:graphic>
      </p:graphicFrame>
      <p:sp>
        <p:nvSpPr>
          <p:cNvPr id="7" name="TextBox 6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개발내용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4470809" y="230860"/>
            <a:ext cx="2749342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en-US" altLang="ko-KR" sz="32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H/W </a:t>
            </a:r>
            <a:r>
              <a:rPr lang="ko-KR" altLang="en-US" sz="32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 내용</a:t>
            </a:r>
            <a:endParaRPr lang="nn-NO" altLang="ko-KR" sz="32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21057819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모서리가 둥근 직사각형 3">
            <a:extLst>
              <a:ext uri="{FF2B5EF4-FFF2-40B4-BE49-F238E27FC236}">
                <a16:creationId xmlns:a16="http://schemas.microsoft.com/office/drawing/2014/main" id="{7ED2E5DA-9612-8704-6583-A8A519C19FA1}"/>
              </a:ext>
            </a:extLst>
          </p:cNvPr>
          <p:cNvSpPr/>
          <p:nvPr/>
        </p:nvSpPr>
        <p:spPr>
          <a:xfrm>
            <a:off x="1191552" y="4666719"/>
            <a:ext cx="9845773" cy="705575"/>
          </a:xfrm>
          <a:prstGeom prst="roundRect">
            <a:avLst>
              <a:gd name="adj" fmla="val 0"/>
            </a:avLst>
          </a:prstGeom>
          <a:solidFill>
            <a:srgbClr val="2A48A6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700" b="1" dirty="0" err="1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Rockchip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R</a:t>
            </a:r>
            <a:r>
              <a:rPr lang="en-US" altLang="ko-KR" sz="1700" b="1" dirty="0">
                <a:solidFill>
                  <a:srgbClr val="FF0000"/>
                </a:solidFill>
                <a:latin typeface="+mn-ea"/>
                <a:cs typeface="Times New Roman" panose="02020603050405020304" pitchFamily="18" charset="0"/>
              </a:rPr>
              <a:t>K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3568J BSP – Bootloader/Linux Kernel</a:t>
            </a:r>
          </a:p>
        </p:txBody>
      </p:sp>
      <p:sp>
        <p:nvSpPr>
          <p:cNvPr id="6" name="모서리가 둥근 직사각형 4">
            <a:extLst>
              <a:ext uri="{FF2B5EF4-FFF2-40B4-BE49-F238E27FC236}">
                <a16:creationId xmlns:a16="http://schemas.microsoft.com/office/drawing/2014/main" id="{A834610F-DE03-BD67-D1EF-94550870E37D}"/>
              </a:ext>
            </a:extLst>
          </p:cNvPr>
          <p:cNvSpPr/>
          <p:nvPr/>
        </p:nvSpPr>
        <p:spPr>
          <a:xfrm>
            <a:off x="1170151" y="4068994"/>
            <a:ext cx="9867174" cy="407418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t"/>
          <a:lstStyle/>
          <a:p>
            <a:pPr marL="291568" indent="-291568" algn="ctr">
              <a:lnSpc>
                <a:spcPct val="150000"/>
              </a:lnSpc>
            </a:pPr>
            <a:r>
              <a:rPr lang="en-US" altLang="ko-KR" sz="1300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Device Drivers- </a:t>
            </a:r>
            <a:r>
              <a:rPr lang="en-US" altLang="ko-KR" sz="1300" dirty="0" err="1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MIPI-CSI&amp;eDP</a:t>
            </a:r>
            <a:r>
              <a:rPr lang="en-US" altLang="ko-KR" sz="1300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/UART/RS422/SPI/I2C/GPIO/USB</a:t>
            </a:r>
          </a:p>
        </p:txBody>
      </p:sp>
      <p:sp>
        <p:nvSpPr>
          <p:cNvPr id="16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1163228" y="2691190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2xMIPI CSI</a:t>
            </a:r>
            <a:r>
              <a:rPr lang="ko-KR" altLang="en-US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altLang="ko-KR" sz="1300" dirty="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Camera</a:t>
            </a:r>
          </a:p>
        </p:txBody>
      </p:sp>
      <p:sp>
        <p:nvSpPr>
          <p:cNvPr id="19" name="모서리가 둥근 직사각형 8">
            <a:extLst>
              <a:ext uri="{FF2B5EF4-FFF2-40B4-BE49-F238E27FC236}">
                <a16:creationId xmlns:a16="http://schemas.microsoft.com/office/drawing/2014/main" id="{AC3FF6F6-8663-8815-4740-F4113A80E00D}"/>
              </a:ext>
            </a:extLst>
          </p:cNvPr>
          <p:cNvSpPr/>
          <p:nvPr/>
        </p:nvSpPr>
        <p:spPr>
          <a:xfrm>
            <a:off x="1163229" y="1724203"/>
            <a:ext cx="9874096" cy="677667"/>
          </a:xfrm>
          <a:prstGeom prst="roundRect">
            <a:avLst>
              <a:gd name="adj" fmla="val 0"/>
            </a:avLst>
          </a:prstGeom>
          <a:solidFill>
            <a:srgbClr val="2E71EA"/>
          </a:solidFill>
          <a:ln w="571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UI/UX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S/W(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서비스 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S/W </a:t>
            </a:r>
            <a:r>
              <a:rPr lang="ko-KR" altLang="en-US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포함</a:t>
            </a:r>
            <a:r>
              <a:rPr lang="en-US" altLang="ko-KR" sz="1700" b="1" dirty="0">
                <a:solidFill>
                  <a:schemeClr val="bg1"/>
                </a:solidFill>
                <a:latin typeface="+mn-ea"/>
                <a:cs typeface="Times New Roman" panose="02020603050405020304" pitchFamily="18" charset="0"/>
              </a:rPr>
              <a:t>)</a:t>
            </a:r>
          </a:p>
        </p:txBody>
      </p:sp>
      <p:sp>
        <p:nvSpPr>
          <p:cNvPr id="30" name="TextBox 29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개발내용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31" name="TextBox 30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4504382" y="250363"/>
            <a:ext cx="3066224" cy="492443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en-US" altLang="ko-KR" sz="32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S/W </a:t>
            </a:r>
            <a:r>
              <a:rPr lang="ko-KR" altLang="en-US" sz="32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시스템 구성</a:t>
            </a:r>
            <a:endParaRPr lang="nn-NO" altLang="ko-KR" sz="32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32" name="TextBox 31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02</a:t>
            </a:r>
          </a:p>
        </p:txBody>
      </p:sp>
      <p:sp>
        <p:nvSpPr>
          <p:cNvPr id="40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3667516" y="2691190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LCD/Touch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1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6171804" y="2691190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Ethernet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2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8676092" y="2691190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BLE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3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1163228" y="3383267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Audio(Speaker/MIC) 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4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3667516" y="3383267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NFC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5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6171804" y="3383267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IR</a:t>
            </a:r>
            <a:r>
              <a:rPr lang="ko-KR" altLang="en-US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 </a:t>
            </a:r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LED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  <p:sp>
        <p:nvSpPr>
          <p:cNvPr id="46" name="모서리가 둥근 직사각형 5">
            <a:extLst>
              <a:ext uri="{FF2B5EF4-FFF2-40B4-BE49-F238E27FC236}">
                <a16:creationId xmlns:a16="http://schemas.microsoft.com/office/drawing/2014/main" id="{2B0129C0-9B32-B870-873F-61239F5F2C31}"/>
              </a:ext>
            </a:extLst>
          </p:cNvPr>
          <p:cNvSpPr/>
          <p:nvPr/>
        </p:nvSpPr>
        <p:spPr>
          <a:xfrm>
            <a:off x="8676092" y="3383267"/>
            <a:ext cx="2344330" cy="624476"/>
          </a:xfrm>
          <a:prstGeom prst="roundRect">
            <a:avLst>
              <a:gd name="adj" fmla="val 0"/>
            </a:avLst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30611" tIns="30611" rIns="30611" bIns="30611" rtlCol="0" anchor="ctr"/>
          <a:lstStyle/>
          <a:p>
            <a:pPr marL="291568" indent="-291568" algn="ctr"/>
            <a:r>
              <a:rPr lang="en-US" altLang="ko-KR" sz="1300">
                <a:solidFill>
                  <a:schemeClr val="tx1"/>
                </a:solidFill>
                <a:latin typeface="+mn-ea"/>
                <a:cs typeface="Times New Roman" panose="02020603050405020304" pitchFamily="18" charset="0"/>
              </a:rPr>
              <a:t>Sensors</a:t>
            </a:r>
            <a:endParaRPr lang="en-US" altLang="ko-KR" sz="1300" dirty="0">
              <a:solidFill>
                <a:schemeClr val="tx1"/>
              </a:solidFill>
              <a:latin typeface="+mn-ea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59433821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6BF105C5-09BE-2409-D55B-2EC02B8C0A41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94391685"/>
              </p:ext>
            </p:extLst>
          </p:nvPr>
        </p:nvGraphicFramePr>
        <p:xfrm>
          <a:off x="327687" y="1347103"/>
          <a:ext cx="11519780" cy="4498352"/>
        </p:xfrm>
        <a:graphic>
          <a:graphicData uri="http://schemas.openxmlformats.org/drawingml/2006/table">
            <a:tbl>
              <a:tblPr firstRow="1" bandRow="1"/>
              <a:tblGrid>
                <a:gridCol w="585340">
                  <a:extLst>
                    <a:ext uri="{9D8B030D-6E8A-4147-A177-3AD203B41FA5}">
                      <a16:colId xmlns:a16="http://schemas.microsoft.com/office/drawing/2014/main" val="1540706734"/>
                    </a:ext>
                  </a:extLst>
                </a:gridCol>
                <a:gridCol w="3117848">
                  <a:extLst>
                    <a:ext uri="{9D8B030D-6E8A-4147-A177-3AD203B41FA5}">
                      <a16:colId xmlns:a16="http://schemas.microsoft.com/office/drawing/2014/main" val="3393624408"/>
                    </a:ext>
                  </a:extLst>
                </a:gridCol>
                <a:gridCol w="7816592">
                  <a:extLst>
                    <a:ext uri="{9D8B030D-6E8A-4147-A177-3AD203B41FA5}">
                      <a16:colId xmlns:a16="http://schemas.microsoft.com/office/drawing/2014/main" val="712990632"/>
                    </a:ext>
                  </a:extLst>
                </a:gridCol>
              </a:tblGrid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NO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구 분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내 용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021686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CPU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RK3568J 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개발환경 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setup, bootloader, Linux 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커널 포팅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, Platform QT design</a:t>
                      </a:r>
                      <a:endParaRPr lang="en-US" sz="1400" b="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59008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Memory 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FAT file system, (eMMC &amp; DDR4 memory Interface)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017003"/>
                  </a:ext>
                </a:extLst>
              </a:tr>
              <a:tr h="268820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LCD w/ Touch (for Embedded)</a:t>
                      </a:r>
                      <a:endParaRPr lang="en-US" sz="1400" b="1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LCD Driver( MIPI or LVDS device driver ,Touch device driver )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369854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NFC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NFC chipset Device Driver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217711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BT BLE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UART / SPI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589792"/>
                  </a:ext>
                </a:extLst>
              </a:tr>
              <a:tr h="288984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Camera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2x MIPI-C : Device Driver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286671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7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Ethernet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10/100/1000 Mbps, Chipset Device Driver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3241142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RS422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Chipset Device Driver and sample test 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516644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9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USB OTG driver, USB Host driver function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923936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10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Audio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Internal audio codec implement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98181095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11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Buttons I/O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GPIO driver management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350464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12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IR LEDs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GPIO driver </a:t>
                      </a:r>
                      <a:r>
                        <a:rPr lang="en-US" sz="14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+mn-cs"/>
                        </a:rPr>
                        <a:t>management</a:t>
                      </a:r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431305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13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MIC &amp;  </a:t>
                      </a:r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Speaker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External Interface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구현</a:t>
                      </a:r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27820469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14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Power</a:t>
                      </a:r>
                      <a:endParaRPr lang="en-US" sz="1400" b="1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PMIC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control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logic table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및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flow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구현</a:t>
                      </a:r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81943967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15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FACE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얼굴인식 알고리즘 포팅</a:t>
                      </a:r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4829860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7A26F470-62DA-4782-BCD4-A08EB00DC56D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개발내용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89745C76-4868-44E6-AC2A-86FE8E798022}"/>
              </a:ext>
            </a:extLst>
          </p:cNvPr>
          <p:cNvSpPr txBox="1"/>
          <p:nvPr/>
        </p:nvSpPr>
        <p:spPr>
          <a:xfrm>
            <a:off x="4955374" y="220481"/>
            <a:ext cx="2321341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en-US" altLang="ko-KR" sz="28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S/W </a:t>
            </a:r>
            <a:r>
              <a:rPr lang="ko-KR" altLang="en-US" sz="28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 내용</a:t>
            </a:r>
            <a:endParaRPr lang="nn-NO" altLang="ko-KR" sz="28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2526703-CFAB-4E13-BD9F-1F9077DF0C99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6859066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DA22DF-D955-EFB1-39BA-E48F1A7CB39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4" name="표 3">
            <a:extLst>
              <a:ext uri="{FF2B5EF4-FFF2-40B4-BE49-F238E27FC236}">
                <a16:creationId xmlns:a16="http://schemas.microsoft.com/office/drawing/2014/main" id="{A94AB996-B56A-D1BB-08DB-59EA3AEC35E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813608774"/>
              </p:ext>
            </p:extLst>
          </p:nvPr>
        </p:nvGraphicFramePr>
        <p:xfrm>
          <a:off x="327687" y="1347103"/>
          <a:ext cx="11519780" cy="4768730"/>
        </p:xfrm>
        <a:graphic>
          <a:graphicData uri="http://schemas.openxmlformats.org/drawingml/2006/table">
            <a:tbl>
              <a:tblPr firstRow="1" bandRow="1"/>
              <a:tblGrid>
                <a:gridCol w="585340">
                  <a:extLst>
                    <a:ext uri="{9D8B030D-6E8A-4147-A177-3AD203B41FA5}">
                      <a16:colId xmlns:a16="http://schemas.microsoft.com/office/drawing/2014/main" val="1540706734"/>
                    </a:ext>
                  </a:extLst>
                </a:gridCol>
                <a:gridCol w="3117848">
                  <a:extLst>
                    <a:ext uri="{9D8B030D-6E8A-4147-A177-3AD203B41FA5}">
                      <a16:colId xmlns:a16="http://schemas.microsoft.com/office/drawing/2014/main" val="3393624408"/>
                    </a:ext>
                  </a:extLst>
                </a:gridCol>
                <a:gridCol w="7816592">
                  <a:extLst>
                    <a:ext uri="{9D8B030D-6E8A-4147-A177-3AD203B41FA5}">
                      <a16:colId xmlns:a16="http://schemas.microsoft.com/office/drawing/2014/main" val="712990632"/>
                    </a:ext>
                  </a:extLst>
                </a:gridCol>
              </a:tblGrid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NO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구 분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solidFill>
                            <a:schemeClr val="bg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내 용</a:t>
                      </a:r>
                      <a:endParaRPr lang="en-US" sz="1400" b="1" dirty="0">
                        <a:solidFill>
                          <a:schemeClr val="bg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tx1">
                        <a:lumMod val="75000"/>
                        <a:lumOff val="2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51021686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개발환경</a:t>
                      </a:r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셋업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RK3568J 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개발환경 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Setup (SDK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설치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) / RK3288W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EVB </a:t>
                      </a:r>
                      <a:r>
                        <a:rPr lang="ko-KR" altLang="en-US" sz="1400" b="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동작 확인 및 분석</a:t>
                      </a:r>
                      <a:endParaRPr lang="en-US" sz="1400" b="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19259008"/>
                  </a:ext>
                </a:extLst>
              </a:tr>
              <a:tr h="140382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2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커널</a:t>
                      </a:r>
                      <a:r>
                        <a:rPr 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포팅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0" kern="1200" dirty="0">
                          <a:solidFill>
                            <a:srgbClr val="2E71EA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Boot Loader / Linux Kernel</a:t>
                      </a:r>
                      <a:r>
                        <a:rPr lang="ko-KR" altLang="en-US" sz="1400" b="0" kern="1200" dirty="0">
                          <a:solidFill>
                            <a:srgbClr val="2E71EA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 </a:t>
                      </a:r>
                      <a:r>
                        <a:rPr lang="en-US" altLang="ko-KR" sz="1400" b="0" kern="1200" dirty="0">
                          <a:solidFill>
                            <a:srgbClr val="2E71EA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/ Device Tree </a:t>
                      </a:r>
                      <a:r>
                        <a:rPr lang="ko-KR" altLang="en-US" sz="1400" b="0" kern="1200" dirty="0">
                          <a:solidFill>
                            <a:srgbClr val="2E71EA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포팅</a:t>
                      </a:r>
                      <a:endParaRPr lang="en-US" sz="1400" kern="1200" dirty="0">
                        <a:solidFill>
                          <a:srgbClr val="2E71EA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2017003"/>
                  </a:ext>
                </a:extLst>
              </a:tr>
              <a:tr h="14038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3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GUI</a:t>
                      </a:r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개발환경 셋업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kern="12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RFS </a:t>
                      </a:r>
                      <a:r>
                        <a:rPr lang="ko-KR" altLang="en-US" sz="1400" kern="12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빌드 </a:t>
                      </a:r>
                      <a:r>
                        <a:rPr lang="en-US" altLang="ko-KR" sz="1400" kern="12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/ GUI Platform Setup (Qt) / Simple GUI Test</a:t>
                      </a:r>
                      <a:endParaRPr lang="en-US" sz="1400" kern="120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36993135"/>
                  </a:ext>
                </a:extLst>
              </a:tr>
              <a:tr h="13934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4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LCD w/ Touch</a:t>
                      </a:r>
                      <a:endParaRPr lang="en-US" sz="1400" b="1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LCD/Touch Device Driver (MIPI or LVDS)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79369854"/>
                  </a:ext>
                </a:extLst>
              </a:tr>
              <a:tr h="139343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5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</a:rPr>
                        <a:t>Camera</a:t>
                      </a:r>
                      <a:endParaRPr lang="en-US" sz="1400" b="1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Camera Device Driver (2x MIPI-CSI)</a:t>
                      </a:r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2169467"/>
                  </a:ext>
                </a:extLst>
              </a:tr>
              <a:tr h="140382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6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Face Recognition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AI 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얼굴인식 알고리즘 포팅</a:t>
                      </a:r>
                      <a:endParaRPr lang="en-US" sz="140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93217711"/>
                  </a:ext>
                </a:extLst>
              </a:tr>
              <a:tr h="140382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7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</a:rPr>
                        <a:t>NFC</a:t>
                      </a:r>
                      <a:endParaRPr lang="en-US" altLang="ko-KR" sz="1400" b="1" dirty="0">
                        <a:latin typeface="맑은 고딕" panose="020B0503020000020004" pitchFamily="50" charset="-127"/>
                        <a:ea typeface="+mn-ea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NFC Chipset Device Driver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66005498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8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</a:rPr>
                        <a:t>USB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USB OTG Function, USB Host Driver Function</a:t>
                      </a:r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841589792"/>
                  </a:ext>
                </a:extLst>
              </a:tr>
              <a:tr h="288984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9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</a:rPr>
                        <a:t>RS422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Chipset Device Driver and Sample Test</a:t>
                      </a:r>
                      <a:endParaRPr lang="en-US" altLang="ko-KR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8286671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10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</a:rPr>
                        <a:t>GPIOs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kern="12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  <a:cs typeface="+mn-cs"/>
                        </a:rPr>
                        <a:t>Button, IR LED, Alarm, …</a:t>
                      </a:r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73241142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11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Interface</a:t>
                      </a:r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 부분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l" defTabSz="128016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BLE / Audio / Ethernet / </a:t>
                      </a:r>
                      <a:r>
                        <a:rPr lang="en-US" altLang="ko-KR" sz="1400" dirty="0" err="1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WiFi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/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Wiegand / MIC &amp; Speaker / RS485 / OSDP 3ch</a:t>
                      </a: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550516644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en-US" sz="1400" dirty="0">
                          <a:solidFill>
                            <a:schemeClr val="tx1"/>
                          </a:solidFill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12</a:t>
                      </a: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테스트</a:t>
                      </a:r>
                      <a:r>
                        <a:rPr lang="en-US" altLang="ko-KR" sz="1400" b="1" dirty="0">
                          <a:latin typeface="맑은 고딕" panose="020B0503020000020004" pitchFamily="50" charset="-127"/>
                          <a:ea typeface="+mn-ea"/>
                          <a:cs typeface="맑은 고딕 Semilight" panose="020B0502040204020203" pitchFamily="50" charset="-127"/>
                        </a:rPr>
                        <a:t> Application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Simple GUI 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구현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(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얼굴등록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얼굴인식 등</a:t>
                      </a:r>
                      <a:r>
                        <a:rPr lang="en-US" altLang="ko-KR" sz="1400" dirty="0">
                          <a:solidFill>
                            <a:srgbClr val="FF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)</a:t>
                      </a:r>
                      <a:endParaRPr lang="en-US" sz="1400" dirty="0">
                        <a:solidFill>
                          <a:srgbClr val="FF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34923936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98181095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  <a:cs typeface="맑은 고딕 Semilight" panose="020B0502040204020203" pitchFamily="50" charset="-127"/>
                        </a:rPr>
                        <a:t>추가 협의 개발 내용</a:t>
                      </a:r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Optimization(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+mn-ea"/>
                        </a:rPr>
                        <a:t>부팅 속도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,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+mn-ea"/>
                        </a:rPr>
                        <a:t>안정성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, Power Management) / FW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+mn-ea"/>
                        </a:rPr>
                        <a:t> 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+mn-ea"/>
                        </a:rPr>
                        <a:t>Update</a:t>
                      </a:r>
                      <a:endParaRPr lang="en-US" sz="1400" kern="12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+mn-cs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741350464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r>
                        <a:rPr lang="ko-KR" altLang="en-US" sz="1400" b="1" dirty="0" err="1">
                          <a:solidFill>
                            <a:srgbClr val="C0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인텔리빅스</a:t>
                      </a:r>
                      <a:r>
                        <a:rPr lang="ko-KR" altLang="en-US" sz="1400" b="1" dirty="0">
                          <a:solidFill>
                            <a:srgbClr val="C00000"/>
                          </a:solidFill>
                          <a:latin typeface="맑은 고딕" panose="020B0503020000020004" pitchFamily="50" charset="-127"/>
                          <a:ea typeface="+mn-ea"/>
                        </a:rPr>
                        <a:t> 개발 내용</a:t>
                      </a:r>
                      <a:endParaRPr lang="en-US" sz="1400" b="1" dirty="0">
                        <a:solidFill>
                          <a:srgbClr val="C00000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r>
                        <a:rPr 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Server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연동 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기타 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UX </a:t>
                      </a:r>
                      <a:r>
                        <a:rPr lang="ko-KR" altLang="en-US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기능 </a:t>
                      </a:r>
                      <a:r>
                        <a:rPr lang="en-US" altLang="ko-KR" sz="1400" dirty="0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/ </a:t>
                      </a:r>
                      <a:r>
                        <a:rPr lang="ko-KR" altLang="en-US" sz="1400" dirty="0" err="1">
                          <a:latin typeface="맑은 고딕" panose="020B0503020000020004" pitchFamily="50" charset="-127"/>
                          <a:ea typeface="맑은 고딕" panose="020B0503020000020004" pitchFamily="50" charset="-127"/>
                        </a:rPr>
                        <a:t>모바일앱</a:t>
                      </a:r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28431305"/>
                  </a:ext>
                </a:extLst>
              </a:tr>
              <a:tr h="280763"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dirty="0">
                        <a:solidFill>
                          <a:schemeClr val="tx1"/>
                        </a:solidFill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ctr"/>
                      <a:endParaRPr lang="en-US" sz="1400" b="1" dirty="0">
                        <a:latin typeface="맑은 고딕" panose="020B0503020000020004" pitchFamily="50" charset="-127"/>
                        <a:ea typeface="맑은 고딕" panose="020B0503020000020004" pitchFamily="50" charset="-127"/>
                        <a:cs typeface="맑은 고딕 Semilight" panose="020B0502040204020203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tc>
                  <a:txBody>
                    <a:bodyPr/>
                    <a:lstStyle>
                      <a:lvl1pPr marL="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1pPr>
                      <a:lvl2pPr marL="6400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2pPr>
                      <a:lvl3pPr marL="12801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3pPr>
                      <a:lvl4pPr marL="19202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4pPr>
                      <a:lvl5pPr marL="256032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5pPr>
                      <a:lvl6pPr marL="320040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6pPr>
                      <a:lvl7pPr marL="384048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7pPr>
                      <a:lvl8pPr marL="448056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8pPr>
                      <a:lvl9pPr marL="5120640" algn="l" defTabSz="1280160" rtl="0" eaLnBrk="1" latinLnBrk="1" hangingPunct="1">
                        <a:defRPr sz="2520" kern="1200">
                          <a:solidFill>
                            <a:schemeClr val="tx1"/>
                          </a:solidFill>
                          <a:latin typeface="Tahoma"/>
                        </a:defRPr>
                      </a:lvl9pPr>
                    </a:lstStyle>
                    <a:p>
                      <a:pPr algn="l"/>
                      <a:endParaRPr lang="en-US" sz="1400" dirty="0">
                        <a:latin typeface="맑은 고딕" panose="020B0503020000020004" pitchFamily="50" charset="-127"/>
                        <a:ea typeface="맑은 고딕" panose="020B0503020000020004" pitchFamily="50" charset="-127"/>
                      </a:endParaRPr>
                    </a:p>
                  </a:txBody>
                  <a:tcPr marL="87068" marR="87068" marT="32663" marB="32663">
                    <a:lnL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3175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chemeClr val="bg1">
                          <a:lumMod val="7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>
                        <a:lumMod val="9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727820469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B25C60BB-9632-0A18-1C10-6A6D4A3FA016}"/>
              </a:ext>
            </a:extLst>
          </p:cNvPr>
          <p:cNvSpPr txBox="1"/>
          <p:nvPr/>
        </p:nvSpPr>
        <p:spPr>
          <a:xfrm>
            <a:off x="751426" y="249113"/>
            <a:ext cx="1059585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세부 개발내용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65A4537-9779-6420-55E6-B90A9EF42122}"/>
              </a:ext>
            </a:extLst>
          </p:cNvPr>
          <p:cNvSpPr txBox="1"/>
          <p:nvPr/>
        </p:nvSpPr>
        <p:spPr>
          <a:xfrm>
            <a:off x="4955374" y="220481"/>
            <a:ext cx="3135730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en-US" altLang="ko-KR" sz="28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S/W </a:t>
            </a:r>
            <a:r>
              <a:rPr lang="ko-KR" altLang="en-US" sz="28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세부 개발 내용</a:t>
            </a:r>
            <a:endParaRPr lang="nn-NO" altLang="ko-KR" sz="28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E07948C-31D1-1846-C7B5-43DE55240C5F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4031483029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22C2F80-B47E-5611-D5E9-1205821A12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TextBox 9">
            <a:extLst>
              <a:ext uri="{FF2B5EF4-FFF2-40B4-BE49-F238E27FC236}">
                <a16:creationId xmlns:a16="http://schemas.microsoft.com/office/drawing/2014/main" id="{1BEA6A04-2182-6B15-9E6C-462C1D7B4ABE}"/>
              </a:ext>
            </a:extLst>
          </p:cNvPr>
          <p:cNvSpPr txBox="1"/>
          <p:nvPr/>
        </p:nvSpPr>
        <p:spPr>
          <a:xfrm>
            <a:off x="751426" y="249113"/>
            <a:ext cx="666849" cy="200055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r>
              <a:rPr lang="ko-KR" altLang="en-US" sz="1300" b="1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  <a:cs typeface="Pretendard SemiBold" pitchFamily="50" charset="-127"/>
              </a:rPr>
              <a:t>개발일정</a:t>
            </a:r>
            <a:endParaRPr lang="en-US" altLang="ko-KR" sz="1300" b="1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  <a:cs typeface="Pretendard SemiBold" pitchFamily="50" charset="-127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2E0F8A15-E742-5CEF-A547-F24E57EDFC0C}"/>
              </a:ext>
            </a:extLst>
          </p:cNvPr>
          <p:cNvSpPr txBox="1"/>
          <p:nvPr/>
        </p:nvSpPr>
        <p:spPr>
          <a:xfrm>
            <a:off x="4955374" y="220481"/>
            <a:ext cx="1512273" cy="430887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>
              <a:spcBef>
                <a:spcPts val="317"/>
              </a:spcBef>
            </a:pPr>
            <a:r>
              <a:rPr lang="ko-KR" altLang="en-US" sz="2800" b="1" spc="-79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개발 일정</a:t>
            </a:r>
            <a:endParaRPr lang="nn-NO" altLang="ko-KR" sz="2800" b="1" spc="-79" dirty="0">
              <a:ln>
                <a:solidFill>
                  <a:schemeClr val="tx1">
                    <a:alpha val="0"/>
                  </a:schemeClr>
                </a:solidFill>
              </a:ln>
              <a:solidFill>
                <a:schemeClr val="bg1"/>
              </a:solidFill>
              <a:latin typeface="맑은 고딕" panose="020B0503020000020004" pitchFamily="50" charset="-127"/>
              <a:ea typeface="맑은 고딕" panose="020B0503020000020004" pitchFamily="50" charset="-127"/>
            </a:endParaRP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589ABD70-E639-3AF5-6685-E6F8EBB3E1C7}"/>
              </a:ext>
            </a:extLst>
          </p:cNvPr>
          <p:cNvSpPr txBox="1"/>
          <p:nvPr/>
        </p:nvSpPr>
        <p:spPr>
          <a:xfrm>
            <a:off x="418803" y="230860"/>
            <a:ext cx="227627" cy="246221"/>
          </a:xfrm>
          <a:prstGeom prst="rect">
            <a:avLst/>
          </a:prstGeom>
          <a:noFill/>
        </p:spPr>
        <p:txBody>
          <a:bodyPr wrap="none" lIns="0" tIns="0" rIns="0" bIns="0" rtlCol="0">
            <a:spAutoFit/>
          </a:bodyPr>
          <a:lstStyle/>
          <a:p>
            <a:pPr algn="ctr"/>
            <a:r>
              <a:rPr lang="en-US" altLang="ko-KR" sz="1600" dirty="0">
                <a:ln>
                  <a:solidFill>
                    <a:schemeClr val="tx1">
                      <a:alpha val="0"/>
                    </a:schemeClr>
                  </a:solidFill>
                </a:ln>
                <a:solidFill>
                  <a:schemeClr val="bg1"/>
                </a:solidFill>
                <a:latin typeface="맑은 고딕" panose="020B0503020000020004" pitchFamily="50" charset="-127"/>
                <a:ea typeface="G마켓 산스 TTF Bold" panose="02000000000000000000" pitchFamily="2" charset="-127"/>
              </a:rPr>
              <a:t>03</a:t>
            </a:r>
          </a:p>
        </p:txBody>
      </p:sp>
      <p:pic>
        <p:nvPicPr>
          <p:cNvPr id="2" name="그림 1">
            <a:extLst>
              <a:ext uri="{FF2B5EF4-FFF2-40B4-BE49-F238E27FC236}">
                <a16:creationId xmlns:a16="http://schemas.microsoft.com/office/drawing/2014/main" id="{B98A8701-C498-4046-4089-33F3B8FBE4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8803" y="1021501"/>
            <a:ext cx="11214744" cy="558897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7551648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ln w="57150">
          <a:gradFill>
            <a:gsLst>
              <a:gs pos="0">
                <a:srgbClr val="2C87EC"/>
              </a:gs>
              <a:gs pos="50000">
                <a:srgbClr val="2E71EA"/>
              </a:gs>
              <a:gs pos="100000">
                <a:srgbClr val="1350BD"/>
              </a:gs>
            </a:gsLst>
            <a:lin ang="5400000" scaled="0"/>
          </a:gradFill>
        </a:ln>
      </a:spPr>
      <a:bodyPr wrap="square" lIns="0" tIns="0" rIns="0" bIns="0" rtlCol="0"/>
      <a:lstStyle>
        <a:defPPr>
          <a:defRPr dirty="0"/>
        </a:defPPr>
      </a:lstStyle>
    </a:sp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1283</TotalTime>
  <Words>1367</Words>
  <Application>Microsoft Office PowerPoint</Application>
  <PresentationFormat>사용자 지정</PresentationFormat>
  <Paragraphs>394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16" baseType="lpstr">
      <vt:lpstr>맑은 고딕</vt:lpstr>
      <vt:lpstr>Wingdings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TITLE</dc:title>
  <dc:creator>adminstrator</dc:creator>
  <cp:lastModifiedBy>수호 권</cp:lastModifiedBy>
  <cp:revision>240</cp:revision>
  <cp:lastPrinted>2024-03-28T00:47:38Z</cp:lastPrinted>
  <dcterms:created xsi:type="dcterms:W3CDTF">2024-01-10T04:55:10Z</dcterms:created>
  <dcterms:modified xsi:type="dcterms:W3CDTF">2026-01-30T08:26:18Z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2024-01-10T00:00:00Z</vt:filetime>
  </property>
  <property fmtid="{D5CDD505-2E9C-101B-9397-08002B2CF9AE}" pid="3" name="LastSaved">
    <vt:filetime>2024-01-10T00:00:00Z</vt:filetime>
  </property>
  <property fmtid="{D5CDD505-2E9C-101B-9397-08002B2CF9AE}" pid="4" name="Producer">
    <vt:lpwstr>GPL Ghostscript 10.02.1</vt:lpwstr>
  </property>
  <property fmtid="{D5CDD505-2E9C-101B-9397-08002B2CF9AE}" pid="5" name="NSCPROP_SA">
    <vt:lpwstr>C:\Users\신길호\Desktop\우수기업연구소_발표자료_V 0.2_240327 (1).pptx</vt:lpwstr>
  </property>
</Properties>
</file>